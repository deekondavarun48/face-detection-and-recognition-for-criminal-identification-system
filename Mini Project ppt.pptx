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8" r:id="rId1"/>
  </p:sldMasterIdLst>
  <p:sldIdLst>
    <p:sldId id="256" r:id="rId2"/>
    <p:sldId id="258" r:id="rId3"/>
    <p:sldId id="257" r:id="rId4"/>
    <p:sldId id="259" r:id="rId5"/>
    <p:sldId id="260" r:id="rId6"/>
    <p:sldId id="261" r:id="rId7"/>
    <p:sldId id="262" r:id="rId8"/>
    <p:sldId id="279" r:id="rId9"/>
    <p:sldId id="264" r:id="rId10"/>
    <p:sldId id="265" r:id="rId11"/>
    <p:sldId id="281" r:id="rId12"/>
    <p:sldId id="266" r:id="rId13"/>
    <p:sldId id="280" r:id="rId14"/>
    <p:sldId id="268" r:id="rId15"/>
    <p:sldId id="269" r:id="rId16"/>
    <p:sldId id="284" r:id="rId17"/>
    <p:sldId id="270" r:id="rId18"/>
    <p:sldId id="285" r:id="rId19"/>
    <p:sldId id="271" r:id="rId20"/>
    <p:sldId id="272" r:id="rId21"/>
    <p:sldId id="282" r:id="rId22"/>
    <p:sldId id="277" r:id="rId23"/>
    <p:sldId id="286"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49" autoAdjust="0"/>
    <p:restoredTop sz="94660"/>
  </p:normalViewPr>
  <p:slideViewPr>
    <p:cSldViewPr>
      <p:cViewPr varScale="1">
        <p:scale>
          <a:sx n="70" d="100"/>
          <a:sy n="70" d="100"/>
        </p:scale>
        <p:origin x="1156" y="5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EF9BAF92-0A2C-4D22-AF46-80A9BF79D367}" type="datetimeFigureOut">
              <a:rPr lang="en-US" smtClean="0"/>
              <a:pPr/>
              <a:t>5/29/2025</a:t>
            </a:fld>
            <a:endParaRPr lang="en-IN"/>
          </a:p>
        </p:txBody>
      </p:sp>
      <p:sp>
        <p:nvSpPr>
          <p:cNvPr id="20" name="Footer Placeholder 19"/>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5A96A413-FE7F-41A7-AAF9-7F4BF33BF0FC}" type="slidenum">
              <a:rPr lang="en-IN" smtClean="0"/>
              <a:pPr/>
              <a:t>‹#›</a:t>
            </a:fld>
            <a:endParaRPr lang="en-IN"/>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F9BAF92-0A2C-4D22-AF46-80A9BF79D367}" type="datetimeFigureOut">
              <a:rPr lang="en-US" smtClean="0"/>
              <a:pPr/>
              <a:t>5/29/2025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96A413-FE7F-41A7-AAF9-7F4BF33BF0FC}"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EF9BAF92-0A2C-4D22-AF46-80A9BF79D367}" type="datetimeFigureOut">
              <a:rPr lang="en-US" smtClean="0"/>
              <a:pPr/>
              <a:t>5/29/2025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96A413-FE7F-41A7-AAF9-7F4BF33BF0FC}" type="slidenum">
              <a:rPr lang="en-IN" smtClean="0"/>
              <a:pPr/>
              <a:t>‹#›</a:t>
            </a:fld>
            <a:endParaRPr lang="en-IN"/>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EF9BAF92-0A2C-4D22-AF46-80A9BF79D367}" type="datetimeFigureOut">
              <a:rPr lang="en-US" smtClean="0"/>
              <a:pPr/>
              <a:t>5/29/2025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96A413-FE7F-41A7-AAF9-7F4BF33BF0FC}"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EF9BAF92-0A2C-4D22-AF46-80A9BF79D367}" type="datetimeFigureOut">
              <a:rPr lang="en-US" smtClean="0"/>
              <a:pPr/>
              <a:t>5/29/2025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A96A413-FE7F-41A7-AAF9-7F4BF33BF0FC}"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EF9BAF92-0A2C-4D22-AF46-80A9BF79D367}" type="datetimeFigureOut">
              <a:rPr lang="en-US" smtClean="0"/>
              <a:pPr/>
              <a:t>5/29/2025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A96A413-FE7F-41A7-AAF9-7F4BF33BF0FC}"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EF9BAF92-0A2C-4D22-AF46-80A9BF79D367}" type="datetimeFigureOut">
              <a:rPr lang="en-US" smtClean="0"/>
              <a:pPr/>
              <a:t>5/29/2025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A96A413-FE7F-41A7-AAF9-7F4BF33BF0FC}" type="slidenum">
              <a:rPr lang="en-IN" smtClean="0"/>
              <a:pPr/>
              <a:t>‹#›</a:t>
            </a:fld>
            <a:endParaRPr lang="en-IN"/>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EF9BAF92-0A2C-4D22-AF46-80A9BF79D367}" type="datetimeFigureOut">
              <a:rPr lang="en-US" smtClean="0"/>
              <a:pPr/>
              <a:t>5/29/2025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96A413-FE7F-41A7-AAF9-7F4BF33BF0FC}"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EF9BAF92-0A2C-4D22-AF46-80A9BF79D367}" type="datetimeFigureOut">
              <a:rPr lang="en-US" smtClean="0"/>
              <a:pPr/>
              <a:t>5/29/2025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96A413-FE7F-41A7-AAF9-7F4BF33BF0FC}" type="slidenum">
              <a:rPr lang="en-IN" smtClean="0"/>
              <a:pPr/>
              <a:t>‹#›</a:t>
            </a:fld>
            <a:endParaRPr lang="en-IN"/>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F9BAF92-0A2C-4D22-AF46-80A9BF79D367}" type="datetimeFigureOut">
              <a:rPr lang="en-US" smtClean="0"/>
              <a:pPr/>
              <a:t>5/29/2025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96A413-FE7F-41A7-AAF9-7F4BF33BF0FC}"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F9BAF92-0A2C-4D22-AF46-80A9BF79D367}" type="datetimeFigureOut">
              <a:rPr lang="en-US" smtClean="0"/>
              <a:pPr/>
              <a:t>5/29/2025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96A413-FE7F-41A7-AAF9-7F4BF33BF0FC}"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EF9BAF92-0A2C-4D22-AF46-80A9BF79D367}" type="datetimeFigureOut">
              <a:rPr lang="en-US" smtClean="0"/>
              <a:pPr/>
              <a:t>5/29/2025</a:t>
            </a:fld>
            <a:endParaRPr lang="en-IN"/>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IN"/>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5A96A413-FE7F-41A7-AAF9-7F4BF33BF0FC}" type="slidenum">
              <a:rPr lang="en-IN" smtClean="0"/>
              <a:pPr/>
              <a:t>‹#›</a:t>
            </a:fld>
            <a:endParaRPr lang="en-IN"/>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4414" y="2214554"/>
            <a:ext cx="7772400" cy="2255843"/>
          </a:xfrm>
        </p:spPr>
        <p:txBody>
          <a:bodyPr>
            <a:normAutofit fontScale="90000"/>
          </a:bodyPr>
          <a:lstStyle/>
          <a:p>
            <a:br>
              <a:rPr lang="en-US" sz="3600" b="1" dirty="0">
                <a:latin typeface="Times New Roman" pitchFamily="18" charset="0"/>
                <a:cs typeface="Times New Roman" pitchFamily="18" charset="0"/>
              </a:rPr>
            </a:br>
            <a:br>
              <a:rPr lang="en-US" sz="3600" b="1" dirty="0">
                <a:latin typeface="Times New Roman" pitchFamily="18" charset="0"/>
                <a:cs typeface="Times New Roman" pitchFamily="18" charset="0"/>
              </a:rPr>
            </a:br>
            <a:r>
              <a:rPr lang="en-IN" sz="3600" b="1" dirty="0">
                <a:effectLst/>
                <a:ea typeface="Calibri" panose="020F0502020204030204" pitchFamily="34" charset="0"/>
                <a:cs typeface="Times New Roman" panose="02020603050405020304" pitchFamily="18" charset="0"/>
              </a:rPr>
              <a:t>FACE DETECTION AND RECOGNITION FOR CRIMINAL IDENTIFICATION SYSTEM</a:t>
            </a:r>
            <a:br>
              <a:rPr lang="en-IN" sz="36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Criminal Identification</a:t>
            </a:r>
          </a:p>
        </p:txBody>
      </p:sp>
      <p:sp>
        <p:nvSpPr>
          <p:cNvPr id="3" name="Content Placeholder 2"/>
          <p:cNvSpPr>
            <a:spLocks noGrp="1"/>
          </p:cNvSpPr>
          <p:nvPr>
            <p:ph idx="1"/>
          </p:nvPr>
        </p:nvSpPr>
        <p:spPr/>
        <p:txBody>
          <a:bodyPr>
            <a:normAutofit/>
          </a:bodyPr>
          <a:lstStyle/>
          <a:p>
            <a:pPr>
              <a:buNone/>
            </a:pPr>
            <a:endParaRPr lang="en-IN" dirty="0"/>
          </a:p>
          <a:p>
            <a:r>
              <a:rPr lang="en-IN" sz="2400" b="1" dirty="0">
                <a:latin typeface="Times New Roman" pitchFamily="18" charset="0"/>
                <a:cs typeface="Times New Roman" pitchFamily="18" charset="0"/>
              </a:rPr>
              <a:t>Under the Guidance of  :  A. Sravanthi</a:t>
            </a:r>
          </a:p>
          <a:p>
            <a:endParaRPr lang="en-IN" sz="2400" b="1" dirty="0">
              <a:latin typeface="Times New Roman" pitchFamily="18" charset="0"/>
              <a:cs typeface="Times New Roman" pitchFamily="18" charset="0"/>
            </a:endParaRPr>
          </a:p>
          <a:p>
            <a:endParaRPr lang="en-IN" sz="2400" b="1" dirty="0">
              <a:latin typeface="Times New Roman" pitchFamily="18" charset="0"/>
              <a:cs typeface="Times New Roman" pitchFamily="18" charset="0"/>
            </a:endParaRPr>
          </a:p>
          <a:p>
            <a:r>
              <a:rPr lang="en-IN" sz="2400" b="1" dirty="0">
                <a:latin typeface="Times New Roman" pitchFamily="18" charset="0"/>
                <a:cs typeface="Times New Roman" pitchFamily="18" charset="0"/>
              </a:rPr>
              <a:t>Done By :  </a:t>
            </a:r>
          </a:p>
          <a:p>
            <a:r>
              <a:rPr lang="en-IN" sz="2400" b="1" dirty="0">
                <a:latin typeface="Times New Roman" pitchFamily="18" charset="0"/>
                <a:cs typeface="Times New Roman" pitchFamily="18" charset="0"/>
              </a:rPr>
              <a:t> Haleema Khatun                    (22U11A0533)</a:t>
            </a:r>
          </a:p>
          <a:p>
            <a:r>
              <a:rPr lang="en-IN" sz="2400" b="1" dirty="0">
                <a:latin typeface="Times New Roman" pitchFamily="18" charset="0"/>
                <a:cs typeface="Times New Roman" pitchFamily="18" charset="0"/>
              </a:rPr>
              <a:t> A. Jyoshna                               (22U11A0505)</a:t>
            </a:r>
          </a:p>
          <a:p>
            <a:r>
              <a:rPr lang="en-IN" sz="2400" b="1" dirty="0">
                <a:latin typeface="Times New Roman" pitchFamily="18" charset="0"/>
                <a:cs typeface="Times New Roman" pitchFamily="18" charset="0"/>
              </a:rPr>
              <a:t> D. Varun Laxmi Narasimha  (22U11A0525)</a:t>
            </a:r>
          </a:p>
          <a:p>
            <a:r>
              <a:rPr lang="en-IN" sz="2400" b="1" dirty="0">
                <a:latin typeface="Times New Roman" pitchFamily="18" charset="0"/>
                <a:cs typeface="Times New Roman" pitchFamily="18" charset="0"/>
              </a:rPr>
              <a:t> Palle Rani                                (22U11A0557)</a:t>
            </a:r>
            <a:endParaRPr lang="en-IN"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CONTENTS</a:t>
            </a:r>
          </a:p>
        </p:txBody>
      </p:sp>
      <p:sp>
        <p:nvSpPr>
          <p:cNvPr id="3" name="Content Placeholder 2"/>
          <p:cNvSpPr>
            <a:spLocks noGrp="1"/>
          </p:cNvSpPr>
          <p:nvPr>
            <p:ph idx="1"/>
          </p:nvPr>
        </p:nvSpPr>
        <p:spPr/>
        <p:txBody>
          <a:bodyPr>
            <a:normAutofit fontScale="92500" lnSpcReduction="20000"/>
          </a:bodyPr>
          <a:lstStyle/>
          <a:p>
            <a:r>
              <a:rPr lang="en-IN" dirty="0">
                <a:latin typeface="Times New Roman" panose="02020603050405020304" pitchFamily="18" charset="0"/>
                <a:cs typeface="Times New Roman" panose="02020603050405020304" pitchFamily="18" charset="0"/>
              </a:rPr>
              <a:t>Abstract</a:t>
            </a:r>
          </a:p>
          <a:p>
            <a:r>
              <a:rPr lang="en-IN" dirty="0">
                <a:latin typeface="Times New Roman" panose="02020603050405020304" pitchFamily="18" charset="0"/>
                <a:cs typeface="Times New Roman" panose="02020603050405020304" pitchFamily="18" charset="0"/>
              </a:rPr>
              <a:t>Existing System And Proposed System</a:t>
            </a:r>
          </a:p>
          <a:p>
            <a:r>
              <a:rPr lang="en-IN" dirty="0">
                <a:latin typeface="Times New Roman" panose="02020603050405020304" pitchFamily="18" charset="0"/>
                <a:cs typeface="Times New Roman" panose="02020603050405020304" pitchFamily="18" charset="0"/>
              </a:rPr>
              <a:t>System Configuration</a:t>
            </a:r>
          </a:p>
          <a:p>
            <a:r>
              <a:rPr lang="en-IN" dirty="0">
                <a:latin typeface="Times New Roman" panose="02020603050405020304" pitchFamily="18" charset="0"/>
                <a:cs typeface="Times New Roman" panose="02020603050405020304" pitchFamily="18" charset="0"/>
              </a:rPr>
              <a:t>Literature Survey</a:t>
            </a:r>
          </a:p>
          <a:p>
            <a:r>
              <a:rPr lang="en-IN" dirty="0">
                <a:latin typeface="Times New Roman" panose="02020603050405020304" pitchFamily="18" charset="0"/>
                <a:cs typeface="Times New Roman" panose="02020603050405020304" pitchFamily="18" charset="0"/>
              </a:rPr>
              <a:t>System Architecture</a:t>
            </a:r>
          </a:p>
          <a:p>
            <a:r>
              <a:rPr lang="en-IN" dirty="0">
                <a:latin typeface="Times New Roman" panose="02020603050405020304" pitchFamily="18" charset="0"/>
                <a:cs typeface="Times New Roman" panose="02020603050405020304" pitchFamily="18" charset="0"/>
              </a:rPr>
              <a:t>Modules</a:t>
            </a:r>
          </a:p>
          <a:p>
            <a:r>
              <a:rPr lang="en-IN" dirty="0">
                <a:latin typeface="Times New Roman" panose="02020603050405020304" pitchFamily="18" charset="0"/>
                <a:cs typeface="Times New Roman" panose="02020603050405020304" pitchFamily="18" charset="0"/>
              </a:rPr>
              <a:t>Advantages and Disadvantages</a:t>
            </a:r>
          </a:p>
          <a:p>
            <a:r>
              <a:rPr lang="en-IN" dirty="0">
                <a:latin typeface="Times New Roman" panose="02020603050405020304" pitchFamily="18" charset="0"/>
                <a:cs typeface="Times New Roman" panose="02020603050405020304" pitchFamily="18" charset="0"/>
              </a:rPr>
              <a:t>UML Diagrams</a:t>
            </a:r>
          </a:p>
          <a:p>
            <a:r>
              <a:rPr lang="en-IN" dirty="0">
                <a:latin typeface="Times New Roman" panose="02020603050405020304" pitchFamily="18" charset="0"/>
                <a:cs typeface="Times New Roman" panose="02020603050405020304" pitchFamily="18" charset="0"/>
              </a:rPr>
              <a:t>Templates</a:t>
            </a:r>
          </a:p>
          <a:p>
            <a:r>
              <a:rPr lang="en-IN" dirty="0">
                <a:latin typeface="Times New Roman" panose="02020603050405020304" pitchFamily="18" charset="0"/>
                <a:cs typeface="Times New Roman" panose="02020603050405020304" pitchFamily="18" charset="0"/>
              </a:rPr>
              <a:t>Conclusion</a:t>
            </a:r>
          </a:p>
          <a:p>
            <a:endParaRPr lang="en-IN" dirty="0"/>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Abstract</a:t>
            </a:r>
          </a:p>
        </p:txBody>
      </p:sp>
      <p:sp>
        <p:nvSpPr>
          <p:cNvPr id="3" name="Content Placeholder 2"/>
          <p:cNvSpPr>
            <a:spLocks noGrp="1"/>
          </p:cNvSpPr>
          <p:nvPr>
            <p:ph idx="1"/>
          </p:nvPr>
        </p:nvSpPr>
        <p:spPr/>
        <p:txBody>
          <a:bodyPr>
            <a:normAutofit/>
          </a:bodyPr>
          <a:lstStyle/>
          <a:p>
            <a:r>
              <a:rPr lang="en-IN" sz="2000" dirty="0">
                <a:effectLst/>
                <a:latin typeface="Times New Roman" panose="02020603050405020304" pitchFamily="18" charset="0"/>
                <a:ea typeface="Calibri" panose="020F0502020204030204" pitchFamily="34" charset="0"/>
                <a:cs typeface="Times New Roman" panose="02020603050405020304" pitchFamily="18" charset="0"/>
              </a:rPr>
              <a:t>The process of identifying and spotting a criminal is slow and difficult. Criminals, these days are getting smarter by not leaving any form Of biological evidence or fingerprint impressions on the crime scene. </a:t>
            </a:r>
          </a:p>
          <a:p>
            <a:r>
              <a:rPr lang="en-IN" sz="2000" dirty="0">
                <a:effectLst/>
                <a:latin typeface="Times New Roman" panose="02020603050405020304" pitchFamily="18" charset="0"/>
                <a:ea typeface="Calibri" panose="020F0502020204030204" pitchFamily="34" charset="0"/>
                <a:cs typeface="Times New Roman" panose="02020603050405020304" pitchFamily="18" charset="0"/>
              </a:rPr>
              <a:t>With the advancement in security technology, CCTV cameras are being installed at most Of the buildings and traffic lights for surveillance purposes. The video footage from the camera can be used to identify suspects, criminals, runaways, missing persons etc. </a:t>
            </a:r>
          </a:p>
          <a:p>
            <a:r>
              <a:rPr lang="en-US" sz="2000" dirty="0">
                <a:latin typeface="Times New Roman" panose="02020603050405020304" pitchFamily="18" charset="0"/>
                <a:cs typeface="Times New Roman" panose="02020603050405020304" pitchFamily="18" charset="0"/>
              </a:rPr>
              <a:t>Blockchain ensures that all facial recognition data, processing logs, and identification matches are stored in an immutable and tamper-proof ledger. The combination of AI-driven facial recognition with blockchain’s decentralized trust model offers a robust, scalable, and secure solution to modern criminal identification, paving the way for more efficient and reliable law enforcement practices</a:t>
            </a:r>
            <a:r>
              <a:rPr lang="en-US" sz="1800" dirty="0"/>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82296" indent="0">
              <a:buNone/>
            </a:pPr>
            <a:endParaRPr lang="en-IN" sz="20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Existing System</a:t>
            </a:r>
          </a:p>
        </p:txBody>
      </p:sp>
      <p:graphicFrame>
        <p:nvGraphicFramePr>
          <p:cNvPr id="4" name="Content Placeholder 3">
            <a:extLst>
              <a:ext uri="{FF2B5EF4-FFF2-40B4-BE49-F238E27FC236}">
                <a16:creationId xmlns:a16="http://schemas.microsoft.com/office/drawing/2014/main" id="{B297C394-214B-A704-9BFE-733E4F4751F9}"/>
              </a:ext>
            </a:extLst>
          </p:cNvPr>
          <p:cNvGraphicFramePr>
            <a:graphicFrameLocks noGrp="1"/>
          </p:cNvGraphicFramePr>
          <p:nvPr>
            <p:ph idx="1"/>
            <p:extLst>
              <p:ext uri="{D42A27DB-BD31-4B8C-83A1-F6EECF244321}">
                <p14:modId xmlns:p14="http://schemas.microsoft.com/office/powerpoint/2010/main" val="809784787"/>
              </p:ext>
            </p:extLst>
          </p:nvPr>
        </p:nvGraphicFramePr>
        <p:xfrm>
          <a:off x="1539258" y="1447800"/>
          <a:ext cx="6633142" cy="4937760"/>
        </p:xfrm>
        <a:graphic>
          <a:graphicData uri="http://schemas.openxmlformats.org/drawingml/2006/table">
            <a:tbl>
              <a:tblPr/>
              <a:tblGrid>
                <a:gridCol w="3316571">
                  <a:extLst>
                    <a:ext uri="{9D8B030D-6E8A-4147-A177-3AD203B41FA5}">
                      <a16:colId xmlns:a16="http://schemas.microsoft.com/office/drawing/2014/main" val="428807054"/>
                    </a:ext>
                  </a:extLst>
                </a:gridCol>
                <a:gridCol w="3316571">
                  <a:extLst>
                    <a:ext uri="{9D8B030D-6E8A-4147-A177-3AD203B41FA5}">
                      <a16:colId xmlns:a16="http://schemas.microsoft.com/office/drawing/2014/main" val="1605673744"/>
                    </a:ext>
                  </a:extLst>
                </a:gridCol>
              </a:tblGrid>
              <a:tr h="322775">
                <a:tc>
                  <a:txBody>
                    <a:bodyPr/>
                    <a:lstStyle/>
                    <a:p>
                      <a:r>
                        <a:rPr lang="en-IN" sz="1700" b="1" dirty="0">
                          <a:latin typeface="+mn-lt"/>
                          <a:cs typeface="Times New Roman" panose="02020603050405020304" pitchFamily="18" charset="0"/>
                        </a:rPr>
                        <a:t>Aspect</a:t>
                      </a:r>
                    </a:p>
                  </a:txBody>
                  <a:tcPr marL="88900" marR="88900" marT="44450" marB="44450" anchor="ctr">
                    <a:lnL>
                      <a:noFill/>
                    </a:lnL>
                    <a:lnR>
                      <a:noFill/>
                    </a:lnR>
                    <a:lnT>
                      <a:noFill/>
                    </a:lnT>
                    <a:lnB>
                      <a:noFill/>
                    </a:lnB>
                    <a:noFill/>
                  </a:tcPr>
                </a:tc>
                <a:tc>
                  <a:txBody>
                    <a:bodyPr/>
                    <a:lstStyle/>
                    <a:p>
                      <a:r>
                        <a:rPr lang="en-IN" sz="1700" b="1" dirty="0">
                          <a:latin typeface="+mn-lt"/>
                          <a:cs typeface="Times New Roman" panose="02020603050405020304" pitchFamily="18" charset="0"/>
                        </a:rPr>
                        <a:t>Description</a:t>
                      </a:r>
                    </a:p>
                  </a:txBody>
                  <a:tcPr marL="88900" marR="88900" marT="44450" marB="44450" anchor="ctr">
                    <a:lnL>
                      <a:noFill/>
                    </a:lnL>
                    <a:lnR>
                      <a:noFill/>
                    </a:lnR>
                    <a:lnT>
                      <a:noFill/>
                    </a:lnT>
                    <a:lnB>
                      <a:noFill/>
                    </a:lnB>
                    <a:noFill/>
                  </a:tcPr>
                </a:tc>
                <a:extLst>
                  <a:ext uri="{0D108BD9-81ED-4DB2-BD59-A6C34878D82A}">
                    <a16:rowId xmlns:a16="http://schemas.microsoft.com/office/drawing/2014/main" val="3511903758"/>
                  </a:ext>
                </a:extLst>
              </a:tr>
              <a:tr h="806938">
                <a:tc>
                  <a:txBody>
                    <a:bodyPr/>
                    <a:lstStyle/>
                    <a:p>
                      <a:r>
                        <a:rPr lang="en-IN" sz="1700" b="1" dirty="0">
                          <a:latin typeface="Times New Roman" panose="02020603050405020304" pitchFamily="18" charset="0"/>
                          <a:cs typeface="Times New Roman" panose="02020603050405020304" pitchFamily="18" charset="0"/>
                        </a:rPr>
                        <a:t>Criminal Identification</a:t>
                      </a:r>
                      <a:endParaRPr lang="en-IN" sz="1700" dirty="0">
                        <a:latin typeface="Times New Roman" panose="02020603050405020304" pitchFamily="18" charset="0"/>
                        <a:cs typeface="Times New Roman" panose="02020603050405020304" pitchFamily="18" charset="0"/>
                      </a:endParaRPr>
                    </a:p>
                  </a:txBody>
                  <a:tcPr marL="88900" marR="88900" marT="44450" marB="44450" anchor="ctr">
                    <a:lnL>
                      <a:noFill/>
                    </a:lnL>
                    <a:lnR>
                      <a:noFill/>
                    </a:lnR>
                    <a:lnT>
                      <a:noFill/>
                    </a:lnT>
                    <a:lnB>
                      <a:noFill/>
                    </a:lnB>
                    <a:noFill/>
                  </a:tcPr>
                </a:tc>
                <a:tc>
                  <a:txBody>
                    <a:bodyPr/>
                    <a:lstStyle/>
                    <a:p>
                      <a:r>
                        <a:rPr lang="en-US" sz="1700" dirty="0">
                          <a:latin typeface="Times New Roman" panose="02020603050405020304" pitchFamily="18" charset="0"/>
                          <a:cs typeface="Times New Roman" panose="02020603050405020304" pitchFamily="18" charset="0"/>
                        </a:rPr>
                        <a:t>Manual and time-consuming, relying on physical evidence like fingerprints or eyewitness reports.</a:t>
                      </a:r>
                    </a:p>
                  </a:txBody>
                  <a:tcPr marL="88900" marR="88900" marT="44450" marB="44450" anchor="ctr">
                    <a:lnL>
                      <a:noFill/>
                    </a:lnL>
                    <a:lnR>
                      <a:noFill/>
                    </a:lnR>
                    <a:lnT>
                      <a:noFill/>
                    </a:lnT>
                    <a:lnB>
                      <a:noFill/>
                    </a:lnB>
                    <a:noFill/>
                  </a:tcPr>
                </a:tc>
                <a:extLst>
                  <a:ext uri="{0D108BD9-81ED-4DB2-BD59-A6C34878D82A}">
                    <a16:rowId xmlns:a16="http://schemas.microsoft.com/office/drawing/2014/main" val="2868779636"/>
                  </a:ext>
                </a:extLst>
              </a:tr>
              <a:tr h="564856">
                <a:tc>
                  <a:txBody>
                    <a:bodyPr/>
                    <a:lstStyle/>
                    <a:p>
                      <a:r>
                        <a:rPr lang="en-IN" sz="1700" b="1" dirty="0">
                          <a:latin typeface="Times New Roman" panose="02020603050405020304" pitchFamily="18" charset="0"/>
                          <a:cs typeface="Times New Roman" panose="02020603050405020304" pitchFamily="18" charset="0"/>
                        </a:rPr>
                        <a:t>Crime Scene Evidence</a:t>
                      </a:r>
                      <a:endParaRPr lang="en-IN" sz="1700" dirty="0">
                        <a:latin typeface="Times New Roman" panose="02020603050405020304" pitchFamily="18" charset="0"/>
                        <a:cs typeface="Times New Roman" panose="02020603050405020304" pitchFamily="18" charset="0"/>
                      </a:endParaRPr>
                    </a:p>
                  </a:txBody>
                  <a:tcPr marL="88900" marR="88900" marT="44450" marB="44450" anchor="ctr">
                    <a:lnL>
                      <a:noFill/>
                    </a:lnL>
                    <a:lnR>
                      <a:noFill/>
                    </a:lnR>
                    <a:lnT>
                      <a:noFill/>
                    </a:lnT>
                    <a:lnB>
                      <a:noFill/>
                    </a:lnB>
                    <a:noFill/>
                  </a:tcPr>
                </a:tc>
                <a:tc>
                  <a:txBody>
                    <a:bodyPr/>
                    <a:lstStyle/>
                    <a:p>
                      <a:r>
                        <a:rPr lang="en-US" sz="1700" dirty="0">
                          <a:latin typeface="Times New Roman" panose="02020603050405020304" pitchFamily="18" charset="0"/>
                          <a:cs typeface="Times New Roman" panose="02020603050405020304" pitchFamily="18" charset="0"/>
                        </a:rPr>
                        <a:t>Criminals often leave no biological traces, making identification difficult.</a:t>
                      </a:r>
                    </a:p>
                  </a:txBody>
                  <a:tcPr marL="88900" marR="88900" marT="44450" marB="44450" anchor="ctr">
                    <a:lnL>
                      <a:noFill/>
                    </a:lnL>
                    <a:lnR>
                      <a:noFill/>
                    </a:lnR>
                    <a:lnT>
                      <a:noFill/>
                    </a:lnT>
                    <a:lnB>
                      <a:noFill/>
                    </a:lnB>
                    <a:noFill/>
                  </a:tcPr>
                </a:tc>
                <a:extLst>
                  <a:ext uri="{0D108BD9-81ED-4DB2-BD59-A6C34878D82A}">
                    <a16:rowId xmlns:a16="http://schemas.microsoft.com/office/drawing/2014/main" val="3768997318"/>
                  </a:ext>
                </a:extLst>
              </a:tr>
              <a:tr h="806938">
                <a:tc>
                  <a:txBody>
                    <a:bodyPr/>
                    <a:lstStyle/>
                    <a:p>
                      <a:r>
                        <a:rPr lang="en-IN" sz="1700" b="1" dirty="0">
                          <a:latin typeface="Times New Roman" panose="02020603050405020304" pitchFamily="18" charset="0"/>
                          <a:cs typeface="Times New Roman" panose="02020603050405020304" pitchFamily="18" charset="0"/>
                        </a:rPr>
                        <a:t>Surveillance Usage</a:t>
                      </a:r>
                      <a:endParaRPr lang="en-IN" sz="1700" dirty="0">
                        <a:latin typeface="Times New Roman" panose="02020603050405020304" pitchFamily="18" charset="0"/>
                        <a:cs typeface="Times New Roman" panose="02020603050405020304" pitchFamily="18" charset="0"/>
                      </a:endParaRPr>
                    </a:p>
                  </a:txBody>
                  <a:tcPr marL="88900" marR="88900" marT="44450" marB="44450" anchor="ctr">
                    <a:lnL>
                      <a:noFill/>
                    </a:lnL>
                    <a:lnR>
                      <a:noFill/>
                    </a:lnR>
                    <a:lnT>
                      <a:noFill/>
                    </a:lnT>
                    <a:lnB>
                      <a:noFill/>
                    </a:lnB>
                    <a:noFill/>
                  </a:tcPr>
                </a:tc>
                <a:tc>
                  <a:txBody>
                    <a:bodyPr/>
                    <a:lstStyle/>
                    <a:p>
                      <a:r>
                        <a:rPr lang="en-US" sz="1700" dirty="0">
                          <a:latin typeface="Times New Roman" panose="02020603050405020304" pitchFamily="18" charset="0"/>
                          <a:cs typeface="Times New Roman" panose="02020603050405020304" pitchFamily="18" charset="0"/>
                        </a:rPr>
                        <a:t>CCTV footage exists but is underutilized or processed manually, slowing investigations.</a:t>
                      </a:r>
                    </a:p>
                  </a:txBody>
                  <a:tcPr marL="88900" marR="88900" marT="44450" marB="44450" anchor="ctr">
                    <a:lnL>
                      <a:noFill/>
                    </a:lnL>
                    <a:lnR>
                      <a:noFill/>
                    </a:lnR>
                    <a:lnT>
                      <a:noFill/>
                    </a:lnT>
                    <a:lnB>
                      <a:noFill/>
                    </a:lnB>
                    <a:noFill/>
                  </a:tcPr>
                </a:tc>
                <a:extLst>
                  <a:ext uri="{0D108BD9-81ED-4DB2-BD59-A6C34878D82A}">
                    <a16:rowId xmlns:a16="http://schemas.microsoft.com/office/drawing/2014/main" val="919573344"/>
                  </a:ext>
                </a:extLst>
              </a:tr>
              <a:tr h="806938">
                <a:tc>
                  <a:txBody>
                    <a:bodyPr/>
                    <a:lstStyle/>
                    <a:p>
                      <a:r>
                        <a:rPr lang="en-IN" sz="1700" b="1">
                          <a:latin typeface="Times New Roman" panose="02020603050405020304" pitchFamily="18" charset="0"/>
                          <a:cs typeface="Times New Roman" panose="02020603050405020304" pitchFamily="18" charset="0"/>
                        </a:rPr>
                        <a:t>Technology Level</a:t>
                      </a:r>
                      <a:endParaRPr lang="en-IN" sz="1700">
                        <a:latin typeface="Times New Roman" panose="02020603050405020304" pitchFamily="18" charset="0"/>
                        <a:cs typeface="Times New Roman" panose="02020603050405020304" pitchFamily="18" charset="0"/>
                      </a:endParaRPr>
                    </a:p>
                  </a:txBody>
                  <a:tcPr marL="88900" marR="88900" marT="44450" marB="44450" anchor="ctr">
                    <a:lnL>
                      <a:noFill/>
                    </a:lnL>
                    <a:lnR>
                      <a:noFill/>
                    </a:lnR>
                    <a:lnT>
                      <a:noFill/>
                    </a:lnT>
                    <a:lnB>
                      <a:noFill/>
                    </a:lnB>
                    <a:noFill/>
                  </a:tcPr>
                </a:tc>
                <a:tc>
                  <a:txBody>
                    <a:bodyPr/>
                    <a:lstStyle/>
                    <a:p>
                      <a:r>
                        <a:rPr lang="en-US" sz="1700" dirty="0">
                          <a:latin typeface="Times New Roman" panose="02020603050405020304" pitchFamily="18" charset="0"/>
                          <a:cs typeface="Times New Roman" panose="02020603050405020304" pitchFamily="18" charset="0"/>
                        </a:rPr>
                        <a:t>No or limited use of automation, AI, or machine learning in existing law enforcement systems.</a:t>
                      </a:r>
                    </a:p>
                  </a:txBody>
                  <a:tcPr marL="88900" marR="88900" marT="44450" marB="44450" anchor="ctr">
                    <a:lnL>
                      <a:noFill/>
                    </a:lnL>
                    <a:lnR>
                      <a:noFill/>
                    </a:lnR>
                    <a:lnT>
                      <a:noFill/>
                    </a:lnT>
                    <a:lnB>
                      <a:noFill/>
                    </a:lnB>
                    <a:noFill/>
                  </a:tcPr>
                </a:tc>
                <a:extLst>
                  <a:ext uri="{0D108BD9-81ED-4DB2-BD59-A6C34878D82A}">
                    <a16:rowId xmlns:a16="http://schemas.microsoft.com/office/drawing/2014/main" val="3537482767"/>
                  </a:ext>
                </a:extLst>
              </a:tr>
              <a:tr h="1049019">
                <a:tc>
                  <a:txBody>
                    <a:bodyPr/>
                    <a:lstStyle/>
                    <a:p>
                      <a:r>
                        <a:rPr lang="en-IN" sz="1700" b="1">
                          <a:latin typeface="Times New Roman" panose="02020603050405020304" pitchFamily="18" charset="0"/>
                          <a:cs typeface="Times New Roman" panose="02020603050405020304" pitchFamily="18" charset="0"/>
                        </a:rPr>
                        <a:t>Challenges</a:t>
                      </a:r>
                      <a:endParaRPr lang="en-IN" sz="1700">
                        <a:latin typeface="Times New Roman" panose="02020603050405020304" pitchFamily="18" charset="0"/>
                        <a:cs typeface="Times New Roman" panose="02020603050405020304" pitchFamily="18" charset="0"/>
                      </a:endParaRPr>
                    </a:p>
                  </a:txBody>
                  <a:tcPr marL="88900" marR="88900" marT="44450" marB="44450" anchor="ctr">
                    <a:lnL>
                      <a:noFill/>
                    </a:lnL>
                    <a:lnR>
                      <a:noFill/>
                    </a:lnR>
                    <a:lnT>
                      <a:noFill/>
                    </a:lnT>
                    <a:lnB>
                      <a:noFill/>
                    </a:lnB>
                    <a:noFill/>
                  </a:tcPr>
                </a:tc>
                <a:tc>
                  <a:txBody>
                    <a:bodyPr/>
                    <a:lstStyle/>
                    <a:p>
                      <a:r>
                        <a:rPr lang="en-US" sz="1700" dirty="0">
                          <a:latin typeface="Times New Roman" panose="02020603050405020304" pitchFamily="18" charset="0"/>
                          <a:cs typeface="Times New Roman" panose="02020603050405020304" pitchFamily="18" charset="0"/>
                        </a:rPr>
                        <a:t>Delay in identifying criminals, increased workload on police, and higher chances of missed identifications.</a:t>
                      </a:r>
                    </a:p>
                  </a:txBody>
                  <a:tcPr marL="88900" marR="88900" marT="44450" marB="44450" anchor="ctr">
                    <a:lnL>
                      <a:noFill/>
                    </a:lnL>
                    <a:lnR>
                      <a:noFill/>
                    </a:lnR>
                    <a:lnT>
                      <a:noFill/>
                    </a:lnT>
                    <a:lnB>
                      <a:noFill/>
                    </a:lnB>
                    <a:noFill/>
                  </a:tcPr>
                </a:tc>
                <a:extLst>
                  <a:ext uri="{0D108BD9-81ED-4DB2-BD59-A6C34878D82A}">
                    <a16:rowId xmlns:a16="http://schemas.microsoft.com/office/drawing/2014/main" val="2788197368"/>
                  </a:ext>
                </a:extLst>
              </a:tr>
            </a:tbl>
          </a:graphicData>
        </a:graphic>
      </p:graphicFrame>
      <p:sp>
        <p:nvSpPr>
          <p:cNvPr id="5" name="Rectangle 1">
            <a:extLst>
              <a:ext uri="{FF2B5EF4-FFF2-40B4-BE49-F238E27FC236}">
                <a16:creationId xmlns:a16="http://schemas.microsoft.com/office/drawing/2014/main" id="{1FCEFB8A-DDF6-8815-BC25-1F280F0229F6}"/>
              </a:ext>
            </a:extLst>
          </p:cNvPr>
          <p:cNvSpPr>
            <a:spLocks noChangeArrowheads="1"/>
          </p:cNvSpPr>
          <p:nvPr/>
        </p:nvSpPr>
        <p:spPr bwMode="auto">
          <a:xfrm>
            <a:off x="0" y="-31028"/>
            <a:ext cx="8318909"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1" i="0" u="none" strike="noStrike" cap="none" normalizeH="0" baseline="0">
                <a:ln>
                  <a:noFill/>
                </a:ln>
                <a:solidFill>
                  <a:schemeClr val="tx1"/>
                </a:solidFill>
                <a:effectLst/>
                <a:latin typeface="Arial" panose="020B0604020202020204" pitchFamily="34" charset="0"/>
              </a:rPr>
              <a:t>Existing System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Proposed System</a:t>
            </a:r>
          </a:p>
        </p:txBody>
      </p:sp>
      <p:graphicFrame>
        <p:nvGraphicFramePr>
          <p:cNvPr id="7" name="Content Placeholder 6">
            <a:extLst>
              <a:ext uri="{FF2B5EF4-FFF2-40B4-BE49-F238E27FC236}">
                <a16:creationId xmlns:a16="http://schemas.microsoft.com/office/drawing/2014/main" id="{4C9F3D02-6670-E4FC-0A63-30B21128460E}"/>
              </a:ext>
            </a:extLst>
          </p:cNvPr>
          <p:cNvGraphicFramePr>
            <a:graphicFrameLocks noGrp="1"/>
          </p:cNvGraphicFramePr>
          <p:nvPr>
            <p:ph idx="1"/>
            <p:extLst>
              <p:ext uri="{D42A27DB-BD31-4B8C-83A1-F6EECF244321}">
                <p14:modId xmlns:p14="http://schemas.microsoft.com/office/powerpoint/2010/main" val="533176685"/>
              </p:ext>
            </p:extLst>
          </p:nvPr>
        </p:nvGraphicFramePr>
        <p:xfrm>
          <a:off x="1470474" y="1427095"/>
          <a:ext cx="7428602" cy="4842010"/>
        </p:xfrm>
        <a:graphic>
          <a:graphicData uri="http://schemas.openxmlformats.org/drawingml/2006/table">
            <a:tbl>
              <a:tblPr/>
              <a:tblGrid>
                <a:gridCol w="3714301">
                  <a:extLst>
                    <a:ext uri="{9D8B030D-6E8A-4147-A177-3AD203B41FA5}">
                      <a16:colId xmlns:a16="http://schemas.microsoft.com/office/drawing/2014/main" val="4187802987"/>
                    </a:ext>
                  </a:extLst>
                </a:gridCol>
                <a:gridCol w="3714301">
                  <a:extLst>
                    <a:ext uri="{9D8B030D-6E8A-4147-A177-3AD203B41FA5}">
                      <a16:colId xmlns:a16="http://schemas.microsoft.com/office/drawing/2014/main" val="3977515228"/>
                    </a:ext>
                  </a:extLst>
                </a:gridCol>
              </a:tblGrid>
              <a:tr h="362309">
                <a:tc>
                  <a:txBody>
                    <a:bodyPr/>
                    <a:lstStyle/>
                    <a:p>
                      <a:r>
                        <a:rPr lang="en-IN" sz="1800" b="1" dirty="0">
                          <a:latin typeface="+mn-lt"/>
                          <a:cs typeface="Times New Roman" panose="02020603050405020304" pitchFamily="18" charset="0"/>
                        </a:rPr>
                        <a:t>Aspect</a:t>
                      </a:r>
                    </a:p>
                  </a:txBody>
                  <a:tcPr marL="90577" marR="90577" marT="45289" marB="45289" anchor="ctr">
                    <a:lnL>
                      <a:noFill/>
                    </a:lnL>
                    <a:lnR>
                      <a:noFill/>
                    </a:lnR>
                    <a:lnT>
                      <a:noFill/>
                    </a:lnT>
                    <a:lnB>
                      <a:noFill/>
                    </a:lnB>
                    <a:noFill/>
                  </a:tcPr>
                </a:tc>
                <a:tc>
                  <a:txBody>
                    <a:bodyPr/>
                    <a:lstStyle/>
                    <a:p>
                      <a:r>
                        <a:rPr lang="en-IN" sz="1800" b="1" dirty="0">
                          <a:latin typeface="+mn-lt"/>
                          <a:cs typeface="Times New Roman" panose="02020603050405020304" pitchFamily="18" charset="0"/>
                        </a:rPr>
                        <a:t>Description</a:t>
                      </a:r>
                    </a:p>
                  </a:txBody>
                  <a:tcPr marL="90577" marR="90577" marT="45289" marB="45289" anchor="ctr">
                    <a:lnL>
                      <a:noFill/>
                    </a:lnL>
                    <a:lnR>
                      <a:noFill/>
                    </a:lnR>
                    <a:lnT>
                      <a:noFill/>
                    </a:lnT>
                    <a:lnB>
                      <a:noFill/>
                    </a:lnB>
                    <a:noFill/>
                  </a:tcPr>
                </a:tc>
                <a:extLst>
                  <a:ext uri="{0D108BD9-81ED-4DB2-BD59-A6C34878D82A}">
                    <a16:rowId xmlns:a16="http://schemas.microsoft.com/office/drawing/2014/main" val="2019240911"/>
                  </a:ext>
                </a:extLst>
              </a:tr>
              <a:tr h="1177506">
                <a:tc>
                  <a:txBody>
                    <a:bodyPr/>
                    <a:lstStyle/>
                    <a:p>
                      <a:r>
                        <a:rPr lang="en-IN" sz="1800" b="1" dirty="0">
                          <a:latin typeface="Times New Roman" panose="02020603050405020304" pitchFamily="18" charset="0"/>
                          <a:cs typeface="Times New Roman" panose="02020603050405020304" pitchFamily="18" charset="0"/>
                        </a:rPr>
                        <a:t>Objective</a:t>
                      </a:r>
                      <a:endParaRPr lang="en-IN" sz="1800" dirty="0">
                        <a:latin typeface="Times New Roman" panose="02020603050405020304" pitchFamily="18" charset="0"/>
                        <a:cs typeface="Times New Roman" panose="02020603050405020304" pitchFamily="18" charset="0"/>
                      </a:endParaRPr>
                    </a:p>
                  </a:txBody>
                  <a:tcPr marL="90577" marR="90577" marT="45289" marB="45289" anchor="ctr">
                    <a:lnL>
                      <a:noFill/>
                    </a:lnL>
                    <a:lnR>
                      <a:noFill/>
                    </a:lnR>
                    <a:lnT>
                      <a:noFill/>
                    </a:lnT>
                    <a:lnB>
                      <a:noFill/>
                    </a:lnB>
                    <a:noFill/>
                  </a:tcPr>
                </a:tc>
                <a:tc>
                  <a:txBody>
                    <a:bodyPr/>
                    <a:lstStyle/>
                    <a:p>
                      <a:r>
                        <a:rPr lang="en-US" sz="1800" dirty="0">
                          <a:latin typeface="Times New Roman" panose="02020603050405020304" pitchFamily="18" charset="0"/>
                          <a:cs typeface="Times New Roman" panose="02020603050405020304" pitchFamily="18" charset="0"/>
                        </a:rPr>
                        <a:t>Automate criminal identification using </a:t>
                      </a:r>
                      <a:r>
                        <a:rPr lang="en-US" sz="1800" b="1" dirty="0">
                          <a:latin typeface="Times New Roman" panose="02020603050405020304" pitchFamily="18" charset="0"/>
                          <a:cs typeface="Times New Roman" panose="02020603050405020304" pitchFamily="18" charset="0"/>
                        </a:rPr>
                        <a:t>face detection and recognition</a:t>
                      </a:r>
                      <a:r>
                        <a:rPr lang="en-US" sz="1800" dirty="0">
                          <a:latin typeface="Times New Roman" panose="02020603050405020304" pitchFamily="18" charset="0"/>
                          <a:cs typeface="Times New Roman" panose="02020603050405020304" pitchFamily="18" charset="0"/>
                        </a:rPr>
                        <a:t> powered by machine learning and deep neural networks.</a:t>
                      </a:r>
                    </a:p>
                  </a:txBody>
                  <a:tcPr marL="90577" marR="90577" marT="45289" marB="45289" anchor="ctr">
                    <a:lnL>
                      <a:noFill/>
                    </a:lnL>
                    <a:lnR>
                      <a:noFill/>
                    </a:lnR>
                    <a:lnT>
                      <a:noFill/>
                    </a:lnT>
                    <a:lnB>
                      <a:noFill/>
                    </a:lnB>
                    <a:noFill/>
                  </a:tcPr>
                </a:tc>
                <a:extLst>
                  <a:ext uri="{0D108BD9-81ED-4DB2-BD59-A6C34878D82A}">
                    <a16:rowId xmlns:a16="http://schemas.microsoft.com/office/drawing/2014/main" val="3779689539"/>
                  </a:ext>
                </a:extLst>
              </a:tr>
              <a:tr h="1177506">
                <a:tc>
                  <a:txBody>
                    <a:bodyPr/>
                    <a:lstStyle/>
                    <a:p>
                      <a:r>
                        <a:rPr lang="en-IN" sz="1800" b="1" dirty="0">
                          <a:latin typeface="Times New Roman" panose="02020603050405020304" pitchFamily="18" charset="0"/>
                          <a:cs typeface="Times New Roman" panose="02020603050405020304" pitchFamily="18" charset="0"/>
                        </a:rPr>
                        <a:t>Technology Stack</a:t>
                      </a:r>
                      <a:endParaRPr lang="en-IN" sz="1800" dirty="0">
                        <a:latin typeface="Times New Roman" panose="02020603050405020304" pitchFamily="18" charset="0"/>
                        <a:cs typeface="Times New Roman" panose="02020603050405020304" pitchFamily="18" charset="0"/>
                      </a:endParaRPr>
                    </a:p>
                  </a:txBody>
                  <a:tcPr marL="90577" marR="90577" marT="45289" marB="45289" anchor="ctr">
                    <a:lnL>
                      <a:noFill/>
                    </a:lnL>
                    <a:lnR>
                      <a:noFill/>
                    </a:lnR>
                    <a:lnT>
                      <a:noFill/>
                    </a:lnT>
                    <a:lnB>
                      <a:noFill/>
                    </a:lnB>
                    <a:noFill/>
                  </a:tcPr>
                </a:tc>
                <a:tc>
                  <a:txBody>
                    <a:bodyPr/>
                    <a:lstStyle/>
                    <a:p>
                      <a:r>
                        <a:rPr lang="en-IN" sz="1800" dirty="0">
                          <a:latin typeface="Times New Roman" panose="02020603050405020304" pitchFamily="18" charset="0"/>
                          <a:cs typeface="Times New Roman" panose="02020603050405020304" pitchFamily="18" charset="0"/>
                        </a:rPr>
                        <a:t>Python (3.10), Django (Backend), MySQL (Database), HTML/CSS/JavaScript (Frontend), using ML/DNN models.</a:t>
                      </a:r>
                    </a:p>
                  </a:txBody>
                  <a:tcPr marL="90577" marR="90577" marT="45289" marB="45289" anchor="ctr">
                    <a:lnL>
                      <a:noFill/>
                    </a:lnL>
                    <a:lnR>
                      <a:noFill/>
                    </a:lnR>
                    <a:lnT>
                      <a:noFill/>
                    </a:lnT>
                    <a:lnB>
                      <a:noFill/>
                    </a:lnB>
                    <a:noFill/>
                  </a:tcPr>
                </a:tc>
                <a:extLst>
                  <a:ext uri="{0D108BD9-81ED-4DB2-BD59-A6C34878D82A}">
                    <a16:rowId xmlns:a16="http://schemas.microsoft.com/office/drawing/2014/main" val="2173139754"/>
                  </a:ext>
                </a:extLst>
              </a:tr>
              <a:tr h="1177506">
                <a:tc>
                  <a:txBody>
                    <a:bodyPr/>
                    <a:lstStyle/>
                    <a:p>
                      <a:r>
                        <a:rPr lang="en-IN" sz="1800" b="1">
                          <a:latin typeface="Times New Roman" panose="02020603050405020304" pitchFamily="18" charset="0"/>
                          <a:cs typeface="Times New Roman" panose="02020603050405020304" pitchFamily="18" charset="0"/>
                        </a:rPr>
                        <a:t>Hardware</a:t>
                      </a:r>
                      <a:endParaRPr lang="en-IN" sz="1800">
                        <a:latin typeface="Times New Roman" panose="02020603050405020304" pitchFamily="18" charset="0"/>
                        <a:cs typeface="Times New Roman" panose="02020603050405020304" pitchFamily="18" charset="0"/>
                      </a:endParaRPr>
                    </a:p>
                  </a:txBody>
                  <a:tcPr marL="90577" marR="90577" marT="45289" marB="45289" anchor="ctr">
                    <a:lnL>
                      <a:noFill/>
                    </a:lnL>
                    <a:lnR>
                      <a:noFill/>
                    </a:lnR>
                    <a:lnT>
                      <a:noFill/>
                    </a:lnT>
                    <a:lnB>
                      <a:noFill/>
                    </a:lnB>
                    <a:noFill/>
                  </a:tcPr>
                </a:tc>
                <a:tc>
                  <a:txBody>
                    <a:bodyPr/>
                    <a:lstStyle/>
                    <a:p>
                      <a:r>
                        <a:rPr lang="en-US" sz="1800" dirty="0">
                          <a:latin typeface="Times New Roman" panose="02020603050405020304" pitchFamily="18" charset="0"/>
                          <a:cs typeface="Times New Roman" panose="02020603050405020304" pitchFamily="18" charset="0"/>
                        </a:rPr>
                        <a:t>Modern hardware (e.g., i3 5th Gen CPU, 4GB+ RAM, 500GB HDD) supports real-time processing and training models.</a:t>
                      </a:r>
                    </a:p>
                  </a:txBody>
                  <a:tcPr marL="90577" marR="90577" marT="45289" marB="45289" anchor="ctr">
                    <a:lnL>
                      <a:noFill/>
                    </a:lnL>
                    <a:lnR>
                      <a:noFill/>
                    </a:lnR>
                    <a:lnT>
                      <a:noFill/>
                    </a:lnT>
                    <a:lnB>
                      <a:noFill/>
                    </a:lnB>
                    <a:noFill/>
                  </a:tcPr>
                </a:tc>
                <a:extLst>
                  <a:ext uri="{0D108BD9-81ED-4DB2-BD59-A6C34878D82A}">
                    <a16:rowId xmlns:a16="http://schemas.microsoft.com/office/drawing/2014/main" val="1253480400"/>
                  </a:ext>
                </a:extLst>
              </a:tr>
              <a:tr h="905774">
                <a:tc>
                  <a:txBody>
                    <a:bodyPr/>
                    <a:lstStyle/>
                    <a:p>
                      <a:r>
                        <a:rPr lang="en-IN" sz="1800" b="1">
                          <a:latin typeface="Times New Roman" panose="02020603050405020304" pitchFamily="18" charset="0"/>
                          <a:cs typeface="Times New Roman" panose="02020603050405020304" pitchFamily="18" charset="0"/>
                        </a:rPr>
                        <a:t>Surveillance Integration</a:t>
                      </a:r>
                      <a:endParaRPr lang="en-IN" sz="1800">
                        <a:latin typeface="Times New Roman" panose="02020603050405020304" pitchFamily="18" charset="0"/>
                        <a:cs typeface="Times New Roman" panose="02020603050405020304" pitchFamily="18" charset="0"/>
                      </a:endParaRPr>
                    </a:p>
                  </a:txBody>
                  <a:tcPr marL="90577" marR="90577" marT="45289" marB="45289" anchor="ctr">
                    <a:lnL>
                      <a:noFill/>
                    </a:lnL>
                    <a:lnR>
                      <a:noFill/>
                    </a:lnR>
                    <a:lnT>
                      <a:noFill/>
                    </a:lnT>
                    <a:lnB>
                      <a:noFill/>
                    </a:lnB>
                    <a:noFill/>
                  </a:tcPr>
                </a:tc>
                <a:tc>
                  <a:txBody>
                    <a:bodyPr/>
                    <a:lstStyle/>
                    <a:p>
                      <a:r>
                        <a:rPr lang="en-US" sz="1800" dirty="0">
                          <a:latin typeface="Times New Roman" panose="02020603050405020304" pitchFamily="18" charset="0"/>
                          <a:cs typeface="Times New Roman" panose="02020603050405020304" pitchFamily="18" charset="0"/>
                        </a:rPr>
                        <a:t>Leverages existing CCTV cameras at buildings, traffic lights, and public places for </a:t>
                      </a:r>
                      <a:r>
                        <a:rPr lang="en-US" sz="1800" b="1" dirty="0">
                          <a:latin typeface="Times New Roman" panose="02020603050405020304" pitchFamily="18" charset="0"/>
                          <a:cs typeface="Times New Roman" panose="02020603050405020304" pitchFamily="18" charset="0"/>
                        </a:rPr>
                        <a:t>real-time monitoring</a:t>
                      </a:r>
                      <a:r>
                        <a:rPr lang="en-US" sz="1800" dirty="0">
                          <a:latin typeface="Times New Roman" panose="02020603050405020304" pitchFamily="18" charset="0"/>
                          <a:cs typeface="Times New Roman" panose="02020603050405020304" pitchFamily="18" charset="0"/>
                        </a:rPr>
                        <a:t>.</a:t>
                      </a:r>
                    </a:p>
                  </a:txBody>
                  <a:tcPr marL="90577" marR="90577" marT="45289" marB="45289" anchor="ctr">
                    <a:lnL>
                      <a:noFill/>
                    </a:lnL>
                    <a:lnR>
                      <a:noFill/>
                    </a:lnR>
                    <a:lnT>
                      <a:noFill/>
                    </a:lnT>
                    <a:lnB>
                      <a:noFill/>
                    </a:lnB>
                    <a:noFill/>
                  </a:tcPr>
                </a:tc>
                <a:extLst>
                  <a:ext uri="{0D108BD9-81ED-4DB2-BD59-A6C34878D82A}">
                    <a16:rowId xmlns:a16="http://schemas.microsoft.com/office/drawing/2014/main" val="61520008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System Configuration</a:t>
            </a:r>
          </a:p>
        </p:txBody>
      </p:sp>
      <p:sp>
        <p:nvSpPr>
          <p:cNvPr id="3" name="Content Placeholder 2"/>
          <p:cNvSpPr>
            <a:spLocks noGrp="1"/>
          </p:cNvSpPr>
          <p:nvPr>
            <p:ph idx="1"/>
          </p:nvPr>
        </p:nvSpPr>
        <p:spPr/>
        <p:txBody>
          <a:bodyPr>
            <a:normAutofit/>
          </a:bodyPr>
          <a:lstStyle/>
          <a:p>
            <a:pPr>
              <a:buNone/>
            </a:pPr>
            <a:r>
              <a:rPr lang="en-IN" dirty="0"/>
              <a:t>Software Requirements</a:t>
            </a:r>
          </a:p>
          <a:p>
            <a:pPr lvl="0">
              <a:buNone/>
            </a:pPr>
            <a:r>
              <a:rPr lang="en-US" sz="1800" dirty="0">
                <a:latin typeface="Times New Roman" pitchFamily="18" charset="0"/>
                <a:cs typeface="Times New Roman" pitchFamily="18" charset="0"/>
              </a:rPr>
              <a:t>      </a:t>
            </a:r>
            <a:endParaRPr lang="en-IN" sz="1800" dirty="0">
              <a:latin typeface="Times New Roman" pitchFamily="18" charset="0"/>
              <a:cs typeface="Times New Roman" pitchFamily="18" charset="0"/>
            </a:endParaRPr>
          </a:p>
          <a:p>
            <a:pPr>
              <a:buNone/>
            </a:pPr>
            <a:r>
              <a:rPr lang="en-US" sz="1900" dirty="0">
                <a:latin typeface="Times New Roman" pitchFamily="18" charset="0"/>
                <a:cs typeface="Times New Roman" pitchFamily="18" charset="0"/>
              </a:rPr>
              <a:t>	</a:t>
            </a:r>
            <a:endParaRPr lang="en-IN" sz="1900" dirty="0">
              <a:latin typeface="Times New Roman" pitchFamily="18" charset="0"/>
              <a:cs typeface="Times New Roman" pitchFamily="18" charset="0"/>
            </a:endParaRPr>
          </a:p>
          <a:p>
            <a:pPr>
              <a:buNone/>
            </a:pPr>
            <a:endParaRPr lang="en-IN" dirty="0"/>
          </a:p>
          <a:p>
            <a:endParaRPr lang="en-IN" dirty="0"/>
          </a:p>
        </p:txBody>
      </p:sp>
      <p:sp>
        <p:nvSpPr>
          <p:cNvPr id="7" name="Rectangle 1">
            <a:extLst>
              <a:ext uri="{FF2B5EF4-FFF2-40B4-BE49-F238E27FC236}">
                <a16:creationId xmlns:a16="http://schemas.microsoft.com/office/drawing/2014/main" id="{2C203851-6BF6-12EE-E7CC-C1B5E8769C78}"/>
              </a:ext>
            </a:extLst>
          </p:cNvPr>
          <p:cNvSpPr>
            <a:spLocks noChangeArrowheads="1"/>
          </p:cNvSpPr>
          <p:nvPr/>
        </p:nvSpPr>
        <p:spPr bwMode="auto">
          <a:xfrm>
            <a:off x="2195444" y="2133069"/>
            <a:ext cx="8935582" cy="377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graphicFrame>
        <p:nvGraphicFramePr>
          <p:cNvPr id="4" name="Table 3">
            <a:extLst>
              <a:ext uri="{FF2B5EF4-FFF2-40B4-BE49-F238E27FC236}">
                <a16:creationId xmlns:a16="http://schemas.microsoft.com/office/drawing/2014/main" id="{2C0D40CA-D909-0B66-A1BA-30D93ABDFDB3}"/>
              </a:ext>
            </a:extLst>
          </p:cNvPr>
          <p:cNvGraphicFramePr>
            <a:graphicFrameLocks noGrp="1"/>
          </p:cNvGraphicFramePr>
          <p:nvPr>
            <p:extLst>
              <p:ext uri="{D42A27DB-BD31-4B8C-83A1-F6EECF244321}">
                <p14:modId xmlns:p14="http://schemas.microsoft.com/office/powerpoint/2010/main" val="2537265125"/>
              </p:ext>
            </p:extLst>
          </p:nvPr>
        </p:nvGraphicFramePr>
        <p:xfrm>
          <a:off x="2279256" y="2099541"/>
          <a:ext cx="5168734" cy="4359367"/>
        </p:xfrm>
        <a:graphic>
          <a:graphicData uri="http://schemas.openxmlformats.org/drawingml/2006/table">
            <a:tbl>
              <a:tblPr firstRow="1" firstCol="1" bandRow="1">
                <a:tableStyleId>{5C22544A-7EE6-4342-B048-85BDC9FD1C3A}</a:tableStyleId>
              </a:tblPr>
              <a:tblGrid>
                <a:gridCol w="2682877">
                  <a:extLst>
                    <a:ext uri="{9D8B030D-6E8A-4147-A177-3AD203B41FA5}">
                      <a16:colId xmlns:a16="http://schemas.microsoft.com/office/drawing/2014/main" val="590906800"/>
                    </a:ext>
                  </a:extLst>
                </a:gridCol>
                <a:gridCol w="2485857">
                  <a:extLst>
                    <a:ext uri="{9D8B030D-6E8A-4147-A177-3AD203B41FA5}">
                      <a16:colId xmlns:a16="http://schemas.microsoft.com/office/drawing/2014/main" val="3545420577"/>
                    </a:ext>
                  </a:extLst>
                </a:gridCol>
              </a:tblGrid>
              <a:tr h="346713">
                <a:tc>
                  <a:txBody>
                    <a:bodyPr/>
                    <a:lstStyle/>
                    <a:p>
                      <a:pPr algn="ctr">
                        <a:lnSpc>
                          <a:spcPct val="107000"/>
                        </a:lnSpc>
                        <a:spcAft>
                          <a:spcPts val="800"/>
                        </a:spcAft>
                        <a:buNone/>
                      </a:pPr>
                      <a:r>
                        <a:rPr lang="en-US" sz="1300">
                          <a:effectLst/>
                        </a:rPr>
                        <a:t>Operating System</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64385" marR="64385" marT="0" marB="0" anchor="ctr"/>
                </a:tc>
                <a:tc>
                  <a:txBody>
                    <a:bodyPr/>
                    <a:lstStyle/>
                    <a:p>
                      <a:pPr algn="ctr">
                        <a:lnSpc>
                          <a:spcPct val="107000"/>
                        </a:lnSpc>
                        <a:spcAft>
                          <a:spcPts val="800"/>
                        </a:spcAft>
                        <a:buNone/>
                      </a:pPr>
                      <a:r>
                        <a:rPr lang="en-US" sz="1300" dirty="0">
                          <a:effectLst/>
                        </a:rPr>
                        <a:t>Windows 10/11</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85" marR="64385" marT="0" marB="0" anchor="ctr"/>
                </a:tc>
                <a:extLst>
                  <a:ext uri="{0D108BD9-81ED-4DB2-BD59-A6C34878D82A}">
                    <a16:rowId xmlns:a16="http://schemas.microsoft.com/office/drawing/2014/main" val="1539897472"/>
                  </a:ext>
                </a:extLst>
              </a:tr>
              <a:tr h="346713">
                <a:tc>
                  <a:txBody>
                    <a:bodyPr/>
                    <a:lstStyle/>
                    <a:p>
                      <a:pPr algn="ctr">
                        <a:lnSpc>
                          <a:spcPct val="107000"/>
                        </a:lnSpc>
                        <a:spcAft>
                          <a:spcPts val="800"/>
                        </a:spcAft>
                        <a:buNone/>
                      </a:pPr>
                      <a:r>
                        <a:rPr lang="en-US" sz="1300" dirty="0">
                          <a:effectLst/>
                        </a:rPr>
                        <a:t>Development Software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85" marR="64385" marT="0" marB="0" anchor="ctr"/>
                </a:tc>
                <a:tc>
                  <a:txBody>
                    <a:bodyPr/>
                    <a:lstStyle/>
                    <a:p>
                      <a:pPr algn="ctr">
                        <a:lnSpc>
                          <a:spcPct val="107000"/>
                        </a:lnSpc>
                        <a:spcAft>
                          <a:spcPts val="800"/>
                        </a:spcAft>
                        <a:buNone/>
                      </a:pPr>
                      <a:r>
                        <a:rPr lang="en-US" sz="1300">
                          <a:effectLst/>
                        </a:rPr>
                        <a:t>Python 3.10</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64385" marR="64385" marT="0" marB="0" anchor="ctr"/>
                </a:tc>
                <a:extLst>
                  <a:ext uri="{0D108BD9-81ED-4DB2-BD59-A6C34878D82A}">
                    <a16:rowId xmlns:a16="http://schemas.microsoft.com/office/drawing/2014/main" val="536800231"/>
                  </a:ext>
                </a:extLst>
              </a:tr>
              <a:tr h="346713">
                <a:tc>
                  <a:txBody>
                    <a:bodyPr/>
                    <a:lstStyle/>
                    <a:p>
                      <a:pPr algn="ctr">
                        <a:lnSpc>
                          <a:spcPct val="107000"/>
                        </a:lnSpc>
                        <a:spcAft>
                          <a:spcPts val="800"/>
                        </a:spcAft>
                        <a:buNone/>
                      </a:pPr>
                      <a:r>
                        <a:rPr lang="en-US" sz="1300">
                          <a:effectLst/>
                        </a:rPr>
                        <a:t>Programming Language</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64385" marR="64385" marT="0" marB="0" anchor="ctr"/>
                </a:tc>
                <a:tc>
                  <a:txBody>
                    <a:bodyPr/>
                    <a:lstStyle/>
                    <a:p>
                      <a:pPr algn="ctr">
                        <a:lnSpc>
                          <a:spcPct val="107000"/>
                        </a:lnSpc>
                        <a:spcAft>
                          <a:spcPts val="800"/>
                        </a:spcAft>
                        <a:buNone/>
                      </a:pPr>
                      <a:r>
                        <a:rPr lang="en-US" sz="1300" dirty="0">
                          <a:effectLst/>
                        </a:rPr>
                        <a:t>Python</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85" marR="64385" marT="0" marB="0" anchor="ctr"/>
                </a:tc>
                <a:extLst>
                  <a:ext uri="{0D108BD9-81ED-4DB2-BD59-A6C34878D82A}">
                    <a16:rowId xmlns:a16="http://schemas.microsoft.com/office/drawing/2014/main" val="124335462"/>
                  </a:ext>
                </a:extLst>
              </a:tr>
              <a:tr h="346713">
                <a:tc>
                  <a:txBody>
                    <a:bodyPr/>
                    <a:lstStyle/>
                    <a:p>
                      <a:pPr algn="ctr">
                        <a:lnSpc>
                          <a:spcPct val="107000"/>
                        </a:lnSpc>
                        <a:spcAft>
                          <a:spcPts val="800"/>
                        </a:spcAft>
                        <a:buNone/>
                      </a:pPr>
                      <a:r>
                        <a:rPr lang="en-US" sz="1300">
                          <a:effectLst/>
                        </a:rPr>
                        <a:t>Domain</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64385" marR="64385" marT="0" marB="0" anchor="ctr"/>
                </a:tc>
                <a:tc>
                  <a:txBody>
                    <a:bodyPr/>
                    <a:lstStyle/>
                    <a:p>
                      <a:pPr algn="ctr">
                        <a:lnSpc>
                          <a:spcPct val="107000"/>
                        </a:lnSpc>
                        <a:spcAft>
                          <a:spcPts val="800"/>
                        </a:spcAft>
                        <a:buNone/>
                      </a:pPr>
                      <a:r>
                        <a:rPr lang="en-US" sz="1300" dirty="0">
                          <a:effectLst/>
                        </a:rPr>
                        <a:t>Machine Learning</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85" marR="64385" marT="0" marB="0" anchor="ctr"/>
                </a:tc>
                <a:extLst>
                  <a:ext uri="{0D108BD9-81ED-4DB2-BD59-A6C34878D82A}">
                    <a16:rowId xmlns:a16="http://schemas.microsoft.com/office/drawing/2014/main" val="438144493"/>
                  </a:ext>
                </a:extLst>
              </a:tr>
              <a:tr h="365639">
                <a:tc>
                  <a:txBody>
                    <a:bodyPr/>
                    <a:lstStyle/>
                    <a:p>
                      <a:pPr algn="ctr">
                        <a:lnSpc>
                          <a:spcPct val="107000"/>
                        </a:lnSpc>
                        <a:spcAft>
                          <a:spcPts val="800"/>
                        </a:spcAft>
                        <a:buNone/>
                      </a:pPr>
                      <a:r>
                        <a:rPr lang="en-US" sz="1300">
                          <a:effectLst/>
                        </a:rPr>
                        <a:t>Integrated Development Environment (IDE)</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64385" marR="64385" marT="0" marB="0" anchor="ctr"/>
                </a:tc>
                <a:tc>
                  <a:txBody>
                    <a:bodyPr/>
                    <a:lstStyle/>
                    <a:p>
                      <a:pPr algn="ctr">
                        <a:lnSpc>
                          <a:spcPct val="107000"/>
                        </a:lnSpc>
                        <a:spcAft>
                          <a:spcPts val="800"/>
                        </a:spcAft>
                        <a:buNone/>
                      </a:pPr>
                      <a:r>
                        <a:rPr lang="en-US" sz="1300">
                          <a:effectLst/>
                        </a:rPr>
                        <a:t>Visual Studio Code</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64385" marR="64385" marT="0" marB="0" anchor="ctr"/>
                </a:tc>
                <a:extLst>
                  <a:ext uri="{0D108BD9-81ED-4DB2-BD59-A6C34878D82A}">
                    <a16:rowId xmlns:a16="http://schemas.microsoft.com/office/drawing/2014/main" val="3031209825"/>
                  </a:ext>
                </a:extLst>
              </a:tr>
              <a:tr h="346713">
                <a:tc>
                  <a:txBody>
                    <a:bodyPr/>
                    <a:lstStyle/>
                    <a:p>
                      <a:pPr algn="ctr">
                        <a:lnSpc>
                          <a:spcPct val="107000"/>
                        </a:lnSpc>
                        <a:spcAft>
                          <a:spcPts val="800"/>
                        </a:spcAft>
                        <a:buNone/>
                      </a:pPr>
                      <a:r>
                        <a:rPr lang="en-US" sz="1300">
                          <a:effectLst/>
                        </a:rPr>
                        <a:t>Front End Technologies</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64385" marR="64385" marT="0" marB="0" anchor="ctr"/>
                </a:tc>
                <a:tc>
                  <a:txBody>
                    <a:bodyPr/>
                    <a:lstStyle/>
                    <a:p>
                      <a:pPr algn="ctr">
                        <a:lnSpc>
                          <a:spcPct val="107000"/>
                        </a:lnSpc>
                        <a:spcAft>
                          <a:spcPts val="800"/>
                        </a:spcAft>
                        <a:buNone/>
                      </a:pPr>
                      <a:r>
                        <a:rPr lang="en-US" sz="1300">
                          <a:effectLst/>
                        </a:rPr>
                        <a:t>HTML5, CSS3, Java Script</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64385" marR="64385" marT="0" marB="0" anchor="ctr"/>
                </a:tc>
                <a:extLst>
                  <a:ext uri="{0D108BD9-81ED-4DB2-BD59-A6C34878D82A}">
                    <a16:rowId xmlns:a16="http://schemas.microsoft.com/office/drawing/2014/main" val="1898286089"/>
                  </a:ext>
                </a:extLst>
              </a:tr>
              <a:tr h="361752">
                <a:tc>
                  <a:txBody>
                    <a:bodyPr/>
                    <a:lstStyle/>
                    <a:p>
                      <a:pPr algn="ctr">
                        <a:lnSpc>
                          <a:spcPct val="107000"/>
                        </a:lnSpc>
                        <a:spcAft>
                          <a:spcPts val="800"/>
                        </a:spcAft>
                        <a:buNone/>
                      </a:pPr>
                      <a:r>
                        <a:rPr lang="en-US" sz="1300">
                          <a:effectLst/>
                        </a:rPr>
                        <a:t>Back End Technologies or Framework</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64385" marR="64385" marT="0" marB="0" anchor="ctr"/>
                </a:tc>
                <a:tc>
                  <a:txBody>
                    <a:bodyPr/>
                    <a:lstStyle/>
                    <a:p>
                      <a:pPr algn="ctr">
                        <a:lnSpc>
                          <a:spcPct val="107000"/>
                        </a:lnSpc>
                        <a:spcAft>
                          <a:spcPts val="800"/>
                        </a:spcAft>
                        <a:buNone/>
                      </a:pPr>
                      <a:r>
                        <a:rPr lang="en-US" sz="1300">
                          <a:effectLst/>
                        </a:rPr>
                        <a:t>Django</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64385" marR="64385" marT="0" marB="0" anchor="ctr"/>
                </a:tc>
                <a:extLst>
                  <a:ext uri="{0D108BD9-81ED-4DB2-BD59-A6C34878D82A}">
                    <a16:rowId xmlns:a16="http://schemas.microsoft.com/office/drawing/2014/main" val="1707765841"/>
                  </a:ext>
                </a:extLst>
              </a:tr>
              <a:tr h="346713">
                <a:tc>
                  <a:txBody>
                    <a:bodyPr/>
                    <a:lstStyle/>
                    <a:p>
                      <a:pPr algn="ctr">
                        <a:lnSpc>
                          <a:spcPct val="107000"/>
                        </a:lnSpc>
                        <a:spcAft>
                          <a:spcPts val="800"/>
                        </a:spcAft>
                        <a:buNone/>
                      </a:pPr>
                      <a:r>
                        <a:rPr lang="en-US" sz="1300">
                          <a:effectLst/>
                        </a:rPr>
                        <a:t>Database Language</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64385" marR="64385" marT="0" marB="0" anchor="ctr"/>
                </a:tc>
                <a:tc>
                  <a:txBody>
                    <a:bodyPr/>
                    <a:lstStyle/>
                    <a:p>
                      <a:pPr algn="ctr">
                        <a:lnSpc>
                          <a:spcPct val="107000"/>
                        </a:lnSpc>
                        <a:spcAft>
                          <a:spcPts val="800"/>
                        </a:spcAft>
                        <a:buNone/>
                      </a:pPr>
                      <a:r>
                        <a:rPr lang="en-US" sz="1300" dirty="0">
                          <a:effectLst/>
                        </a:rPr>
                        <a:t>SQL</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85" marR="64385" marT="0" marB="0" anchor="ctr"/>
                </a:tc>
                <a:extLst>
                  <a:ext uri="{0D108BD9-81ED-4DB2-BD59-A6C34878D82A}">
                    <a16:rowId xmlns:a16="http://schemas.microsoft.com/office/drawing/2014/main" val="170514648"/>
                  </a:ext>
                </a:extLst>
              </a:tr>
              <a:tr h="346713">
                <a:tc>
                  <a:txBody>
                    <a:bodyPr/>
                    <a:lstStyle/>
                    <a:p>
                      <a:pPr algn="ctr">
                        <a:lnSpc>
                          <a:spcPct val="107000"/>
                        </a:lnSpc>
                        <a:spcAft>
                          <a:spcPts val="800"/>
                        </a:spcAft>
                        <a:buNone/>
                      </a:pPr>
                      <a:r>
                        <a:rPr lang="en-US" sz="1300">
                          <a:effectLst/>
                        </a:rPr>
                        <a:t>Database (RDBMS) </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64385" marR="64385" marT="0" marB="0" anchor="ctr"/>
                </a:tc>
                <a:tc>
                  <a:txBody>
                    <a:bodyPr/>
                    <a:lstStyle/>
                    <a:p>
                      <a:pPr algn="ctr">
                        <a:lnSpc>
                          <a:spcPct val="107000"/>
                        </a:lnSpc>
                        <a:spcAft>
                          <a:spcPts val="800"/>
                        </a:spcAft>
                        <a:buNone/>
                      </a:pPr>
                      <a:r>
                        <a:rPr lang="en-US" sz="1300" dirty="0">
                          <a:effectLst/>
                        </a:rPr>
                        <a:t>MySQL</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85" marR="64385" marT="0" marB="0" anchor="ctr"/>
                </a:tc>
                <a:extLst>
                  <a:ext uri="{0D108BD9-81ED-4DB2-BD59-A6C34878D82A}">
                    <a16:rowId xmlns:a16="http://schemas.microsoft.com/office/drawing/2014/main" val="2223197971"/>
                  </a:ext>
                </a:extLst>
              </a:tr>
              <a:tr h="346713">
                <a:tc>
                  <a:txBody>
                    <a:bodyPr/>
                    <a:lstStyle/>
                    <a:p>
                      <a:pPr algn="ctr">
                        <a:lnSpc>
                          <a:spcPct val="107000"/>
                        </a:lnSpc>
                        <a:spcAft>
                          <a:spcPts val="800"/>
                        </a:spcAft>
                        <a:buNone/>
                      </a:pPr>
                      <a:r>
                        <a:rPr lang="en-US" sz="1300">
                          <a:effectLst/>
                        </a:rPr>
                        <a:t>Database Software</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64385" marR="64385" marT="0" marB="0" anchor="ctr"/>
                </a:tc>
                <a:tc>
                  <a:txBody>
                    <a:bodyPr/>
                    <a:lstStyle/>
                    <a:p>
                      <a:pPr algn="ctr">
                        <a:lnSpc>
                          <a:spcPct val="107000"/>
                        </a:lnSpc>
                        <a:spcAft>
                          <a:spcPts val="800"/>
                        </a:spcAft>
                        <a:buNone/>
                      </a:pPr>
                      <a:r>
                        <a:rPr lang="en-US" sz="1300" dirty="0">
                          <a:effectLst/>
                        </a:rPr>
                        <a:t>WAMP or XAMPP Server</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85" marR="64385" marT="0" marB="0" anchor="ctr"/>
                </a:tc>
                <a:extLst>
                  <a:ext uri="{0D108BD9-81ED-4DB2-BD59-A6C34878D82A}">
                    <a16:rowId xmlns:a16="http://schemas.microsoft.com/office/drawing/2014/main" val="1136542796"/>
                  </a:ext>
                </a:extLst>
              </a:tr>
              <a:tr h="365639">
                <a:tc>
                  <a:txBody>
                    <a:bodyPr/>
                    <a:lstStyle/>
                    <a:p>
                      <a:pPr algn="ctr">
                        <a:lnSpc>
                          <a:spcPct val="107000"/>
                        </a:lnSpc>
                        <a:spcAft>
                          <a:spcPts val="800"/>
                        </a:spcAft>
                        <a:buNone/>
                      </a:pPr>
                      <a:r>
                        <a:rPr lang="en-US" sz="1300">
                          <a:effectLst/>
                        </a:rPr>
                        <a:t>Web Server or Deployment Server</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64385" marR="64385" marT="0" marB="0" anchor="ctr"/>
                </a:tc>
                <a:tc>
                  <a:txBody>
                    <a:bodyPr/>
                    <a:lstStyle/>
                    <a:p>
                      <a:pPr algn="ctr">
                        <a:lnSpc>
                          <a:spcPct val="107000"/>
                        </a:lnSpc>
                        <a:spcAft>
                          <a:spcPts val="800"/>
                        </a:spcAft>
                        <a:buNone/>
                      </a:pPr>
                      <a:r>
                        <a:rPr lang="en-US" sz="1300" dirty="0">
                          <a:effectLst/>
                        </a:rPr>
                        <a:t>Django Application Development Server</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85" marR="64385" marT="0" marB="0" anchor="ctr"/>
                </a:tc>
                <a:extLst>
                  <a:ext uri="{0D108BD9-81ED-4DB2-BD59-A6C34878D82A}">
                    <a16:rowId xmlns:a16="http://schemas.microsoft.com/office/drawing/2014/main" val="2192945739"/>
                  </a:ext>
                </a:extLst>
              </a:tr>
              <a:tr h="346713">
                <a:tc>
                  <a:txBody>
                    <a:bodyPr/>
                    <a:lstStyle/>
                    <a:p>
                      <a:pPr algn="ctr">
                        <a:lnSpc>
                          <a:spcPct val="107000"/>
                        </a:lnSpc>
                        <a:spcAft>
                          <a:spcPts val="800"/>
                        </a:spcAft>
                        <a:buNone/>
                      </a:pPr>
                      <a:r>
                        <a:rPr lang="en-US" sz="1300">
                          <a:effectLst/>
                        </a:rPr>
                        <a:t>Design/Modelling</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64385" marR="64385" marT="0" marB="0" anchor="ctr"/>
                </a:tc>
                <a:tc>
                  <a:txBody>
                    <a:bodyPr/>
                    <a:lstStyle/>
                    <a:p>
                      <a:pPr algn="ctr">
                        <a:lnSpc>
                          <a:spcPct val="107000"/>
                        </a:lnSpc>
                        <a:spcAft>
                          <a:spcPts val="800"/>
                        </a:spcAft>
                        <a:buNone/>
                      </a:pPr>
                      <a:r>
                        <a:rPr lang="en-US" sz="1300" dirty="0">
                          <a:effectLst/>
                        </a:rPr>
                        <a:t>Rational Rose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85" marR="64385" marT="0" marB="0" anchor="ctr"/>
                </a:tc>
                <a:extLst>
                  <a:ext uri="{0D108BD9-81ED-4DB2-BD59-A6C34878D82A}">
                    <a16:rowId xmlns:a16="http://schemas.microsoft.com/office/drawing/2014/main" val="75947795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ABF58-D8B5-0D8F-C5C2-A5EFF9E8E5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BC0A6F-7048-67B3-6777-E6CC306AD8F6}"/>
              </a:ext>
            </a:extLst>
          </p:cNvPr>
          <p:cNvSpPr>
            <a:spLocks noGrp="1"/>
          </p:cNvSpPr>
          <p:nvPr>
            <p:ph type="title"/>
          </p:nvPr>
        </p:nvSpPr>
        <p:spPr/>
        <p:txBody>
          <a:bodyPr/>
          <a:lstStyle/>
          <a:p>
            <a:r>
              <a:rPr lang="en-IN" dirty="0"/>
              <a:t>System Configuration</a:t>
            </a:r>
          </a:p>
        </p:txBody>
      </p:sp>
      <p:sp>
        <p:nvSpPr>
          <p:cNvPr id="3" name="Content Placeholder 2">
            <a:extLst>
              <a:ext uri="{FF2B5EF4-FFF2-40B4-BE49-F238E27FC236}">
                <a16:creationId xmlns:a16="http://schemas.microsoft.com/office/drawing/2014/main" id="{ADDFDB09-9FFB-33EF-6C86-585BA0E5E013}"/>
              </a:ext>
            </a:extLst>
          </p:cNvPr>
          <p:cNvSpPr>
            <a:spLocks noGrp="1"/>
          </p:cNvSpPr>
          <p:nvPr>
            <p:ph idx="1"/>
          </p:nvPr>
        </p:nvSpPr>
        <p:spPr/>
        <p:txBody>
          <a:bodyPr>
            <a:normAutofit/>
          </a:bodyPr>
          <a:lstStyle/>
          <a:p>
            <a:pPr>
              <a:buNone/>
            </a:pPr>
            <a:r>
              <a:rPr lang="en-IN" dirty="0"/>
              <a:t>Hardware Requirements</a:t>
            </a:r>
          </a:p>
          <a:p>
            <a:pPr>
              <a:buNone/>
            </a:pPr>
            <a:endParaRPr lang="en-IN" dirty="0"/>
          </a:p>
          <a:p>
            <a:pPr>
              <a:buNone/>
            </a:pPr>
            <a:endParaRPr lang="en-IN" dirty="0"/>
          </a:p>
          <a:p>
            <a:endParaRPr lang="en-IN" dirty="0"/>
          </a:p>
        </p:txBody>
      </p:sp>
      <p:graphicFrame>
        <p:nvGraphicFramePr>
          <p:cNvPr id="4" name="Table 3">
            <a:extLst>
              <a:ext uri="{FF2B5EF4-FFF2-40B4-BE49-F238E27FC236}">
                <a16:creationId xmlns:a16="http://schemas.microsoft.com/office/drawing/2014/main" id="{EFEEDE29-0384-F807-4D91-70243830F467}"/>
              </a:ext>
            </a:extLst>
          </p:cNvPr>
          <p:cNvGraphicFramePr>
            <a:graphicFrameLocks noGrp="1"/>
          </p:cNvGraphicFramePr>
          <p:nvPr/>
        </p:nvGraphicFramePr>
        <p:xfrm>
          <a:off x="2049462" y="2758440"/>
          <a:ext cx="6270625" cy="2179320"/>
        </p:xfrm>
        <a:graphic>
          <a:graphicData uri="http://schemas.openxmlformats.org/drawingml/2006/table">
            <a:tbl>
              <a:tblPr firstRow="1" firstCol="1" bandRow="1">
                <a:tableStyleId>{5C22544A-7EE6-4342-B048-85BDC9FD1C3A}</a:tableStyleId>
              </a:tblPr>
              <a:tblGrid>
                <a:gridCol w="1733550">
                  <a:extLst>
                    <a:ext uri="{9D8B030D-6E8A-4147-A177-3AD203B41FA5}">
                      <a16:colId xmlns:a16="http://schemas.microsoft.com/office/drawing/2014/main" val="1341310655"/>
                    </a:ext>
                  </a:extLst>
                </a:gridCol>
                <a:gridCol w="1776095">
                  <a:extLst>
                    <a:ext uri="{9D8B030D-6E8A-4147-A177-3AD203B41FA5}">
                      <a16:colId xmlns:a16="http://schemas.microsoft.com/office/drawing/2014/main" val="863595107"/>
                    </a:ext>
                  </a:extLst>
                </a:gridCol>
                <a:gridCol w="2760980">
                  <a:extLst>
                    <a:ext uri="{9D8B030D-6E8A-4147-A177-3AD203B41FA5}">
                      <a16:colId xmlns:a16="http://schemas.microsoft.com/office/drawing/2014/main" val="3716561653"/>
                    </a:ext>
                  </a:extLst>
                </a:gridCol>
              </a:tblGrid>
              <a:tr h="544830">
                <a:tc gridSpan="2">
                  <a:txBody>
                    <a:bodyPr/>
                    <a:lstStyle/>
                    <a:p>
                      <a:pPr algn="ctr">
                        <a:lnSpc>
                          <a:spcPct val="107000"/>
                        </a:lnSpc>
                        <a:spcAft>
                          <a:spcPts val="800"/>
                        </a:spcAft>
                        <a:buNone/>
                      </a:pPr>
                      <a:r>
                        <a:rPr lang="en-US" sz="1400">
                          <a:effectLst/>
                        </a:rPr>
                        <a:t>MINIMUM (Required for Execution)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n-IN"/>
                    </a:p>
                  </a:txBody>
                  <a:tcPr/>
                </a:tc>
                <a:tc>
                  <a:txBody>
                    <a:bodyPr/>
                    <a:lstStyle/>
                    <a:p>
                      <a:pPr algn="ctr">
                        <a:lnSpc>
                          <a:spcPct val="107000"/>
                        </a:lnSpc>
                        <a:spcAft>
                          <a:spcPts val="800"/>
                        </a:spcAft>
                        <a:buNone/>
                      </a:pPr>
                      <a:r>
                        <a:rPr lang="en-US" sz="1400">
                          <a:effectLst/>
                        </a:rPr>
                        <a:t>MY SYSTEM (Development)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00698036"/>
                  </a:ext>
                </a:extLst>
              </a:tr>
              <a:tr h="544830">
                <a:tc>
                  <a:txBody>
                    <a:bodyPr/>
                    <a:lstStyle/>
                    <a:p>
                      <a:pPr algn="ctr">
                        <a:lnSpc>
                          <a:spcPct val="107000"/>
                        </a:lnSpc>
                        <a:spcAft>
                          <a:spcPts val="800"/>
                        </a:spcAft>
                        <a:buNone/>
                      </a:pPr>
                      <a:r>
                        <a:rPr lang="en-US" sz="1400">
                          <a:effectLst/>
                        </a:rPr>
                        <a:t>System</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400">
                          <a:effectLst/>
                        </a:rPr>
                        <a:t>Pentium IV 2.2 GHz</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400">
                          <a:effectLst/>
                        </a:rPr>
                        <a:t>i3 Processor 5</a:t>
                      </a:r>
                      <a:r>
                        <a:rPr lang="en-US" sz="1400" baseline="30000">
                          <a:effectLst/>
                        </a:rPr>
                        <a:t>th</a:t>
                      </a:r>
                      <a:r>
                        <a:rPr lang="en-US" sz="1400">
                          <a:effectLst/>
                        </a:rPr>
                        <a:t> Gen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773869804"/>
                  </a:ext>
                </a:extLst>
              </a:tr>
              <a:tr h="544830">
                <a:tc>
                  <a:txBody>
                    <a:bodyPr/>
                    <a:lstStyle/>
                    <a:p>
                      <a:pPr algn="ctr">
                        <a:lnSpc>
                          <a:spcPct val="107000"/>
                        </a:lnSpc>
                        <a:spcAft>
                          <a:spcPts val="800"/>
                        </a:spcAft>
                        <a:buNone/>
                      </a:pPr>
                      <a:r>
                        <a:rPr lang="en-US" sz="1400">
                          <a:effectLst/>
                        </a:rPr>
                        <a:t>Hard Disk</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400">
                          <a:effectLst/>
                        </a:rPr>
                        <a:t>20 Gb</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400">
                          <a:effectLst/>
                        </a:rPr>
                        <a:t>500 Gb</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96713828"/>
                  </a:ext>
                </a:extLst>
              </a:tr>
              <a:tr h="544830">
                <a:tc>
                  <a:txBody>
                    <a:bodyPr/>
                    <a:lstStyle/>
                    <a:p>
                      <a:pPr algn="ctr">
                        <a:lnSpc>
                          <a:spcPct val="107000"/>
                        </a:lnSpc>
                        <a:spcAft>
                          <a:spcPts val="800"/>
                        </a:spcAft>
                        <a:buNone/>
                      </a:pPr>
                      <a:r>
                        <a:rPr lang="en-US" sz="1400">
                          <a:effectLst/>
                        </a:rPr>
                        <a:t>Ram</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400">
                          <a:effectLst/>
                        </a:rPr>
                        <a:t>1 Gb</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400" dirty="0">
                          <a:effectLst/>
                        </a:rPr>
                        <a:t>4 Gb</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81558264"/>
                  </a:ext>
                </a:extLst>
              </a:tr>
            </a:tbl>
          </a:graphicData>
        </a:graphic>
      </p:graphicFrame>
    </p:spTree>
    <p:extLst>
      <p:ext uri="{BB962C8B-B14F-4D97-AF65-F5344CB8AC3E}">
        <p14:creationId xmlns:p14="http://schemas.microsoft.com/office/powerpoint/2010/main" val="2791914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System Architecture</a:t>
            </a:r>
          </a:p>
        </p:txBody>
      </p:sp>
      <p:cxnSp>
        <p:nvCxnSpPr>
          <p:cNvPr id="32" name="Straight Arrow Connector 31"/>
          <p:cNvCxnSpPr/>
          <p:nvPr/>
        </p:nvCxnSpPr>
        <p:spPr>
          <a:xfrm>
            <a:off x="7215206" y="5214950"/>
            <a:ext cx="21431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9" name="Content Placeholder 8">
            <a:extLst>
              <a:ext uri="{FF2B5EF4-FFF2-40B4-BE49-F238E27FC236}">
                <a16:creationId xmlns:a16="http://schemas.microsoft.com/office/drawing/2014/main" id="{29CAE023-4EAE-EE80-2361-2BD4214AD2D6}"/>
              </a:ext>
            </a:extLst>
          </p:cNvPr>
          <p:cNvPicPr>
            <a:picLocks noGrp="1" noChangeAspect="1"/>
          </p:cNvPicPr>
          <p:nvPr>
            <p:ph idx="1"/>
          </p:nvPr>
        </p:nvPicPr>
        <p:blipFill>
          <a:blip r:embed="rId2"/>
          <a:stretch>
            <a:fillRect/>
          </a:stretch>
        </p:blipFill>
        <p:spPr>
          <a:xfrm>
            <a:off x="2339752" y="1125538"/>
            <a:ext cx="5616623" cy="5622925"/>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0"/>
            <a:ext cx="7498080" cy="836712"/>
          </a:xfrm>
        </p:spPr>
        <p:txBody>
          <a:bodyPr/>
          <a:lstStyle/>
          <a:p>
            <a:r>
              <a:rPr lang="en-IN" dirty="0"/>
              <a:t>Modules</a:t>
            </a:r>
          </a:p>
        </p:txBody>
      </p:sp>
      <p:sp>
        <p:nvSpPr>
          <p:cNvPr id="3" name="Content Placeholder 2"/>
          <p:cNvSpPr>
            <a:spLocks noGrp="1"/>
          </p:cNvSpPr>
          <p:nvPr>
            <p:ph idx="1"/>
          </p:nvPr>
        </p:nvSpPr>
        <p:spPr>
          <a:xfrm>
            <a:off x="1435608" y="1052736"/>
            <a:ext cx="7498080" cy="5195664"/>
          </a:xfrm>
        </p:spPr>
        <p:txBody>
          <a:bodyPr>
            <a:normAutofit fontScale="25000" lnSpcReduction="20000"/>
          </a:bodyPr>
          <a:lstStyle/>
          <a:p>
            <a:pPr marL="0" lvl="0" indent="0" algn="just">
              <a:lnSpc>
                <a:spcPct val="150000"/>
              </a:lnSpc>
              <a:buNone/>
            </a:pPr>
            <a:r>
              <a:rPr lang="en-US" sz="6400" b="1" dirty="0">
                <a:latin typeface="Times New Roman" panose="02020603050405020304" pitchFamily="18" charset="0"/>
                <a:ea typeface="Calibri" panose="020F0502020204030204" pitchFamily="34" charset="0"/>
                <a:cs typeface="Times New Roman" panose="02020603050405020304" pitchFamily="18" charset="0"/>
              </a:rPr>
              <a:t>    </a:t>
            </a:r>
            <a:r>
              <a:rPr lang="en-US" sz="6400" b="1" dirty="0">
                <a:ea typeface="Calibri" panose="020F0502020204030204" pitchFamily="34" charset="0"/>
                <a:cs typeface="Times New Roman" panose="02020603050405020304" pitchFamily="18" charset="0"/>
              </a:rPr>
              <a:t>ADMIN</a:t>
            </a:r>
            <a:r>
              <a:rPr lang="en-US" sz="6400" b="1" dirty="0">
                <a:latin typeface="Times New Roman" panose="02020603050405020304" pitchFamily="18" charset="0"/>
                <a:ea typeface="Calibri" panose="020F0502020204030204" pitchFamily="34" charset="0"/>
                <a:cs typeface="Times New Roman" panose="02020603050405020304" pitchFamily="18" charset="0"/>
              </a:rPr>
              <a:t> :  </a:t>
            </a:r>
            <a:endParaRPr lang="en-US" sz="64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Wingdings" panose="05000000000000000000" pitchFamily="2" charset="2"/>
              <a:buChar char=""/>
            </a:pPr>
            <a:r>
              <a:rPr lang="en-US" sz="6400" dirty="0">
                <a:effectLst/>
                <a:latin typeface="Times New Roman" panose="02020603050405020304" pitchFamily="18" charset="0"/>
                <a:ea typeface="Calibri" panose="020F0502020204030204" pitchFamily="34" charset="0"/>
                <a:cs typeface="Times New Roman" panose="02020603050405020304" pitchFamily="18" charset="0"/>
              </a:rPr>
              <a:t>Login</a:t>
            </a:r>
            <a:endParaRPr lang="en-IN" sz="6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Wingdings" panose="05000000000000000000" pitchFamily="2" charset="2"/>
              <a:buChar char=""/>
            </a:pPr>
            <a:r>
              <a:rPr lang="en-US" sz="6400" dirty="0">
                <a:effectLst/>
                <a:latin typeface="Times New Roman" panose="02020603050405020304" pitchFamily="18" charset="0"/>
                <a:ea typeface="Calibri" panose="020F0502020204030204" pitchFamily="34" charset="0"/>
                <a:cs typeface="Times New Roman" panose="02020603050405020304" pitchFamily="18" charset="0"/>
              </a:rPr>
              <a:t>Police Station Management</a:t>
            </a:r>
            <a:endParaRPr lang="en-IN" sz="6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Wingdings" panose="05000000000000000000" pitchFamily="2" charset="2"/>
              <a:buChar char=""/>
            </a:pPr>
            <a:r>
              <a:rPr lang="en-US" sz="6400" dirty="0">
                <a:effectLst/>
                <a:latin typeface="Times New Roman" panose="02020603050405020304" pitchFamily="18" charset="0"/>
                <a:ea typeface="Calibri" panose="020F0502020204030204" pitchFamily="34" charset="0"/>
                <a:cs typeface="Times New Roman" panose="02020603050405020304" pitchFamily="18" charset="0"/>
              </a:rPr>
              <a:t>Add Police Station</a:t>
            </a:r>
            <a:endParaRPr lang="en-IN" sz="6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Wingdings" panose="05000000000000000000" pitchFamily="2" charset="2"/>
              <a:buChar char=""/>
            </a:pPr>
            <a:r>
              <a:rPr lang="en-US" sz="6400" dirty="0">
                <a:effectLst/>
                <a:latin typeface="Times New Roman" panose="02020603050405020304" pitchFamily="18" charset="0"/>
                <a:ea typeface="Calibri" panose="020F0502020204030204" pitchFamily="34" charset="0"/>
                <a:cs typeface="Times New Roman" panose="02020603050405020304" pitchFamily="18" charset="0"/>
              </a:rPr>
              <a:t>Manage Police Station</a:t>
            </a:r>
            <a:endParaRPr lang="en-IN" sz="6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Wingdings" panose="05000000000000000000" pitchFamily="2" charset="2"/>
              <a:buChar char=""/>
            </a:pPr>
            <a:r>
              <a:rPr lang="en-US" sz="6400" dirty="0">
                <a:effectLst/>
                <a:latin typeface="Times New Roman" panose="02020603050405020304" pitchFamily="18" charset="0"/>
                <a:ea typeface="Calibri" panose="020F0502020204030204" pitchFamily="34" charset="0"/>
                <a:cs typeface="Times New Roman" panose="02020603050405020304" pitchFamily="18" charset="0"/>
              </a:rPr>
              <a:t>Police Officer Management</a:t>
            </a:r>
            <a:endParaRPr lang="en-IN" sz="6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Wingdings" panose="05000000000000000000" pitchFamily="2" charset="2"/>
              <a:buChar char=""/>
            </a:pPr>
            <a:r>
              <a:rPr lang="en-US" sz="6400" dirty="0">
                <a:effectLst/>
                <a:latin typeface="Times New Roman" panose="02020603050405020304" pitchFamily="18" charset="0"/>
                <a:ea typeface="Calibri" panose="020F0502020204030204" pitchFamily="34" charset="0"/>
                <a:cs typeface="Times New Roman" panose="02020603050405020304" pitchFamily="18" charset="0"/>
              </a:rPr>
              <a:t>Add Police officer</a:t>
            </a:r>
            <a:endParaRPr lang="en-IN" sz="6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Wingdings" panose="05000000000000000000" pitchFamily="2" charset="2"/>
              <a:buChar char=""/>
            </a:pPr>
            <a:r>
              <a:rPr lang="en-US" sz="6400" dirty="0">
                <a:effectLst/>
                <a:latin typeface="Times New Roman" panose="02020603050405020304" pitchFamily="18" charset="0"/>
                <a:ea typeface="Calibri" panose="020F0502020204030204" pitchFamily="34" charset="0"/>
                <a:cs typeface="Times New Roman" panose="02020603050405020304" pitchFamily="18" charset="0"/>
              </a:rPr>
              <a:t>Officer Details</a:t>
            </a:r>
            <a:endParaRPr lang="en-IN" sz="6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Wingdings" panose="05000000000000000000" pitchFamily="2" charset="2"/>
              <a:buChar char=""/>
            </a:pPr>
            <a:r>
              <a:rPr lang="en-US" sz="6400" dirty="0">
                <a:effectLst/>
                <a:latin typeface="Times New Roman" panose="02020603050405020304" pitchFamily="18" charset="0"/>
                <a:ea typeface="Calibri" panose="020F0502020204030204" pitchFamily="34" charset="0"/>
                <a:cs typeface="Times New Roman" panose="02020603050405020304" pitchFamily="18" charset="0"/>
              </a:rPr>
              <a:t>Add Criminal </a:t>
            </a:r>
            <a:endParaRPr lang="en-IN" sz="6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Wingdings" panose="05000000000000000000" pitchFamily="2" charset="2"/>
              <a:buChar char=""/>
            </a:pPr>
            <a:r>
              <a:rPr lang="en-US" sz="6400" dirty="0">
                <a:effectLst/>
                <a:latin typeface="Times New Roman" panose="02020603050405020304" pitchFamily="18" charset="0"/>
                <a:ea typeface="Calibri" panose="020F0502020204030204" pitchFamily="34" charset="0"/>
                <a:cs typeface="Times New Roman" panose="02020603050405020304" pitchFamily="18" charset="0"/>
              </a:rPr>
              <a:t>Manage Criminal</a:t>
            </a:r>
            <a:endParaRPr lang="en-IN" sz="6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Wingdings" panose="05000000000000000000" pitchFamily="2" charset="2"/>
              <a:buChar char=""/>
            </a:pPr>
            <a:r>
              <a:rPr lang="en-US" sz="6400" dirty="0">
                <a:effectLst/>
                <a:latin typeface="Times New Roman" panose="02020603050405020304" pitchFamily="18" charset="0"/>
                <a:ea typeface="Calibri" panose="020F0502020204030204" pitchFamily="34" charset="0"/>
                <a:cs typeface="Times New Roman" panose="02020603050405020304" pitchFamily="18" charset="0"/>
              </a:rPr>
              <a:t>Criminal List</a:t>
            </a:r>
            <a:endParaRPr lang="en-IN" sz="6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Wingdings" panose="05000000000000000000" pitchFamily="2" charset="2"/>
              <a:buChar char=""/>
            </a:pPr>
            <a:r>
              <a:rPr lang="en-US" sz="6400" dirty="0">
                <a:effectLst/>
                <a:latin typeface="Times New Roman" panose="02020603050405020304" pitchFamily="18" charset="0"/>
                <a:ea typeface="Calibri" panose="020F0502020204030204" pitchFamily="34" charset="0"/>
                <a:cs typeface="Times New Roman" panose="02020603050405020304" pitchFamily="18" charset="0"/>
              </a:rPr>
              <a:t>Add Crime</a:t>
            </a:r>
            <a:endParaRPr lang="en-IN" sz="6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Wingdings" panose="05000000000000000000" pitchFamily="2" charset="2"/>
              <a:buChar char=""/>
            </a:pPr>
            <a:r>
              <a:rPr lang="en-US" sz="6400" dirty="0">
                <a:effectLst/>
                <a:latin typeface="Times New Roman" panose="02020603050405020304" pitchFamily="18" charset="0"/>
                <a:ea typeface="Calibri" panose="020F0502020204030204" pitchFamily="34" charset="0"/>
                <a:cs typeface="Times New Roman" panose="02020603050405020304" pitchFamily="18" charset="0"/>
              </a:rPr>
              <a:t>Logout</a:t>
            </a:r>
            <a:r>
              <a:rPr lang="en-IN" sz="6400" dirty="0">
                <a:latin typeface="Times New Roman" pitchFamily="18" charset="0"/>
                <a:cs typeface="Times New Roman" pitchFamily="18" charset="0"/>
              </a:rPr>
              <a:t> </a:t>
            </a:r>
          </a:p>
          <a:p>
            <a:pPr marL="82296" indent="0">
              <a:buNone/>
            </a:pPr>
            <a:endParaRPr lang="en-IN" sz="4400" dirty="0">
              <a:latin typeface="Times New Roman" pitchFamily="18" charset="0"/>
              <a:cs typeface="Times New Roman" pitchFamily="18" charset="0"/>
            </a:endParaRPr>
          </a:p>
          <a:p>
            <a:pPr>
              <a:buNone/>
            </a:pPr>
            <a:endParaRPr lang="en-IN" dirty="0"/>
          </a:p>
        </p:txBody>
      </p:sp>
      <p:pic>
        <p:nvPicPr>
          <p:cNvPr id="4" name="Picture 3">
            <a:extLst>
              <a:ext uri="{FF2B5EF4-FFF2-40B4-BE49-F238E27FC236}">
                <a16:creationId xmlns:a16="http://schemas.microsoft.com/office/drawing/2014/main" id="{8B661C20-F5A0-D18D-40EC-4E259D9625BF}"/>
              </a:ext>
            </a:extLst>
          </p:cNvPr>
          <p:cNvPicPr>
            <a:picLocks noChangeAspect="1"/>
          </p:cNvPicPr>
          <p:nvPr/>
        </p:nvPicPr>
        <p:blipFill>
          <a:blip r:embed="rId2"/>
          <a:stretch>
            <a:fillRect/>
          </a:stretch>
        </p:blipFill>
        <p:spPr>
          <a:xfrm>
            <a:off x="4283969" y="634776"/>
            <a:ext cx="4860032" cy="595518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7A14B-334C-3230-9D13-9A26F7775C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5CCD15-8B97-D7B1-A83A-C66C4CAD5E72}"/>
              </a:ext>
            </a:extLst>
          </p:cNvPr>
          <p:cNvSpPr>
            <a:spLocks noGrp="1"/>
          </p:cNvSpPr>
          <p:nvPr>
            <p:ph type="title"/>
          </p:nvPr>
        </p:nvSpPr>
        <p:spPr>
          <a:xfrm>
            <a:off x="1435608" y="0"/>
            <a:ext cx="7498080" cy="836712"/>
          </a:xfrm>
        </p:spPr>
        <p:txBody>
          <a:bodyPr/>
          <a:lstStyle/>
          <a:p>
            <a:r>
              <a:rPr lang="en-IN" dirty="0"/>
              <a:t>Modules</a:t>
            </a:r>
          </a:p>
        </p:txBody>
      </p:sp>
      <p:sp>
        <p:nvSpPr>
          <p:cNvPr id="3" name="Content Placeholder 2">
            <a:extLst>
              <a:ext uri="{FF2B5EF4-FFF2-40B4-BE49-F238E27FC236}">
                <a16:creationId xmlns:a16="http://schemas.microsoft.com/office/drawing/2014/main" id="{B828F6C8-C833-8CC3-0CCA-CAC0294807C1}"/>
              </a:ext>
            </a:extLst>
          </p:cNvPr>
          <p:cNvSpPr>
            <a:spLocks noGrp="1"/>
          </p:cNvSpPr>
          <p:nvPr>
            <p:ph idx="1"/>
          </p:nvPr>
        </p:nvSpPr>
        <p:spPr>
          <a:xfrm>
            <a:off x="1435608" y="1052736"/>
            <a:ext cx="7498080" cy="5195664"/>
          </a:xfrm>
        </p:spPr>
        <p:txBody>
          <a:bodyPr>
            <a:normAutofit/>
          </a:bodyPr>
          <a:lstStyle/>
          <a:p>
            <a:pPr marL="82296" indent="0">
              <a:buNone/>
            </a:pPr>
            <a:endParaRPr lang="en-IN" sz="4400" dirty="0">
              <a:latin typeface="Times New Roman" pitchFamily="18" charset="0"/>
              <a:cs typeface="Times New Roman" pitchFamily="18" charset="0"/>
            </a:endParaRPr>
          </a:p>
          <a:p>
            <a:pPr>
              <a:buNone/>
            </a:pPr>
            <a:endParaRPr lang="en-IN" dirty="0"/>
          </a:p>
        </p:txBody>
      </p:sp>
      <p:sp>
        <p:nvSpPr>
          <p:cNvPr id="5" name="TextBox 4">
            <a:extLst>
              <a:ext uri="{FF2B5EF4-FFF2-40B4-BE49-F238E27FC236}">
                <a16:creationId xmlns:a16="http://schemas.microsoft.com/office/drawing/2014/main" id="{32E6F5EA-E266-7342-A18F-C3E366A6EA8A}"/>
              </a:ext>
            </a:extLst>
          </p:cNvPr>
          <p:cNvSpPr txBox="1"/>
          <p:nvPr/>
        </p:nvSpPr>
        <p:spPr>
          <a:xfrm>
            <a:off x="1435608" y="1052737"/>
            <a:ext cx="5422392" cy="3058979"/>
          </a:xfrm>
          <a:prstGeom prst="rect">
            <a:avLst/>
          </a:prstGeom>
          <a:noFill/>
        </p:spPr>
        <p:txBody>
          <a:bodyPr wrap="square">
            <a:spAutoFit/>
          </a:bodyPr>
          <a:lstStyle/>
          <a:p>
            <a:pPr algn="just">
              <a:lnSpc>
                <a:spcPct val="150000"/>
              </a:lnSpc>
              <a:spcAft>
                <a:spcPts val="800"/>
              </a:spcAft>
              <a:buNone/>
            </a:pPr>
            <a:r>
              <a:rPr lang="en-US" sz="1800" b="1" dirty="0">
                <a:effectLst/>
                <a:ea typeface="Calibri" panose="020F0502020204030204" pitchFamily="34" charset="0"/>
                <a:cs typeface="Times New Roman" panose="02020603050405020304" pitchFamily="18" charset="0"/>
              </a:rPr>
              <a:t>USER</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Wingdings" panose="05000000000000000000" pitchFamily="2"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Register</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Wingdings" panose="05000000000000000000" pitchFamily="2"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Login</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Wingdings" panose="05000000000000000000" pitchFamily="2"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Dashboard</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Wingdings" panose="05000000000000000000" pitchFamily="2"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Search Criminal</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Wingdings" panose="05000000000000000000" pitchFamily="2"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My Profile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Wingdings" panose="05000000000000000000" pitchFamily="2"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Logout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8DE5A72E-4B1E-7FA3-9AFF-2ADBE4D46D0E}"/>
              </a:ext>
            </a:extLst>
          </p:cNvPr>
          <p:cNvPicPr>
            <a:picLocks noChangeAspect="1"/>
          </p:cNvPicPr>
          <p:nvPr/>
        </p:nvPicPr>
        <p:blipFill>
          <a:blip r:embed="rId2"/>
          <a:stretch>
            <a:fillRect/>
          </a:stretch>
        </p:blipFill>
        <p:spPr>
          <a:xfrm>
            <a:off x="3779911" y="142875"/>
            <a:ext cx="5040561" cy="6105525"/>
          </a:xfrm>
          <a:prstGeom prst="rect">
            <a:avLst/>
          </a:prstGeom>
        </p:spPr>
      </p:pic>
    </p:spTree>
    <p:extLst>
      <p:ext uri="{BB962C8B-B14F-4D97-AF65-F5344CB8AC3E}">
        <p14:creationId xmlns:p14="http://schemas.microsoft.com/office/powerpoint/2010/main" val="25940087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854127"/>
          </a:xfrm>
        </p:spPr>
        <p:txBody>
          <a:bodyPr/>
          <a:lstStyle/>
          <a:p>
            <a:r>
              <a:rPr lang="en-IN" dirty="0"/>
              <a:t>Advantages </a:t>
            </a:r>
          </a:p>
        </p:txBody>
      </p:sp>
      <p:sp>
        <p:nvSpPr>
          <p:cNvPr id="4" name="Rectangle 1">
            <a:extLst>
              <a:ext uri="{FF2B5EF4-FFF2-40B4-BE49-F238E27FC236}">
                <a16:creationId xmlns:a16="http://schemas.microsoft.com/office/drawing/2014/main" id="{C7EDE901-6415-3749-A50C-87A732AE4BD0}"/>
              </a:ext>
            </a:extLst>
          </p:cNvPr>
          <p:cNvSpPr>
            <a:spLocks noGrp="1" noChangeArrowheads="1"/>
          </p:cNvSpPr>
          <p:nvPr>
            <p:ph idx="1"/>
          </p:nvPr>
        </p:nvSpPr>
        <p:spPr bwMode="auto">
          <a:xfrm>
            <a:off x="1435608" y="1412776"/>
            <a:ext cx="7384864"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Surveillance Integration</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Works seamlessly with live CCTV footage to detect and recognize faces instantly.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Higher Accuracy with Deep Learning</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Utilizes machine learning and deep neural networks for improved detection accuracy and face matching.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Non-Invasive and Contactless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Does not require physical contact or biometric input from suspects, enhancing safety and ease of use.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Enhanced Law Enforcement Capability</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police with an advanced tool to identify criminals, suspects, and missing persons swiftly.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Centralization</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Consolidates criminal data (photos, details, history) in a central MySQL database, making access and management easier.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94C49-AE01-5FA3-C6C7-8F63E171E6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47022A-606D-0E10-DB18-1951504BFC98}"/>
              </a:ext>
            </a:extLst>
          </p:cNvPr>
          <p:cNvSpPr>
            <a:spLocks noGrp="1"/>
          </p:cNvSpPr>
          <p:nvPr>
            <p:ph type="title"/>
          </p:nvPr>
        </p:nvSpPr>
        <p:spPr/>
        <p:txBody>
          <a:bodyPr/>
          <a:lstStyle/>
          <a:p>
            <a:r>
              <a:rPr lang="en-IN" dirty="0"/>
              <a:t>Disadvantages </a:t>
            </a:r>
          </a:p>
        </p:txBody>
      </p:sp>
      <p:sp>
        <p:nvSpPr>
          <p:cNvPr id="4" name="Rectangle 1">
            <a:extLst>
              <a:ext uri="{FF2B5EF4-FFF2-40B4-BE49-F238E27FC236}">
                <a16:creationId xmlns:a16="http://schemas.microsoft.com/office/drawing/2014/main" id="{3965636D-CF19-43E5-9B44-B8176B2B3FFF}"/>
              </a:ext>
            </a:extLst>
          </p:cNvPr>
          <p:cNvSpPr>
            <a:spLocks noGrp="1" noChangeArrowheads="1"/>
          </p:cNvSpPr>
          <p:nvPr>
            <p:ph idx="1"/>
          </p:nvPr>
        </p:nvSpPr>
        <p:spPr bwMode="auto">
          <a:xfrm>
            <a:off x="1331640" y="1628800"/>
            <a:ext cx="702482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Privacy Concerns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Continuous surveillance and face recognition can raise ethical and legal concerns regarding personal privacy.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False Positives/Negatives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may incorrectly identify individuals due to lighting, angle, poor image quality, or similar facial features.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Dependency on Quality CCTV Feeds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Accuracy heavily depends on the resolution and positioning of CCTV cameras; low-quality footage can hinder recognition.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Security Risks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not properly secured, criminal databases and personal information could be vulnerable to cyberattacks or leaks.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Initial Setup Cost</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Requires investment in hardware (CCTV, servers) and software development (ML models, databases).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407324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UML Diagrams</a:t>
            </a:r>
            <a:br>
              <a:rPr lang="en-IN" dirty="0"/>
            </a:br>
            <a:r>
              <a:rPr lang="en-IN" dirty="0"/>
              <a:t>    Class diagram</a:t>
            </a:r>
          </a:p>
        </p:txBody>
      </p:sp>
      <p:pic>
        <p:nvPicPr>
          <p:cNvPr id="9" name="Content Placeholder 8">
            <a:extLst>
              <a:ext uri="{FF2B5EF4-FFF2-40B4-BE49-F238E27FC236}">
                <a16:creationId xmlns:a16="http://schemas.microsoft.com/office/drawing/2014/main" id="{A6EE4415-886B-1ABB-9EF2-43E874DED14E}"/>
              </a:ext>
            </a:extLst>
          </p:cNvPr>
          <p:cNvPicPr>
            <a:picLocks noGrp="1" noChangeAspect="1"/>
          </p:cNvPicPr>
          <p:nvPr>
            <p:ph idx="1"/>
          </p:nvPr>
        </p:nvPicPr>
        <p:blipFill>
          <a:blip r:embed="rId2"/>
          <a:stretch>
            <a:fillRect/>
          </a:stretch>
        </p:blipFill>
        <p:spPr>
          <a:xfrm>
            <a:off x="1232860" y="1625088"/>
            <a:ext cx="7498080" cy="488584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Use case diagram</a:t>
            </a:r>
          </a:p>
        </p:txBody>
      </p:sp>
      <p:pic>
        <p:nvPicPr>
          <p:cNvPr id="9" name="Content Placeholder 8">
            <a:extLst>
              <a:ext uri="{FF2B5EF4-FFF2-40B4-BE49-F238E27FC236}">
                <a16:creationId xmlns:a16="http://schemas.microsoft.com/office/drawing/2014/main" id="{76305A2D-BA97-20FF-C287-9A55C7B31237}"/>
              </a:ext>
            </a:extLst>
          </p:cNvPr>
          <p:cNvPicPr>
            <a:picLocks noGrp="1" noChangeAspect="1"/>
          </p:cNvPicPr>
          <p:nvPr>
            <p:ph idx="1"/>
          </p:nvPr>
        </p:nvPicPr>
        <p:blipFill>
          <a:blip r:embed="rId2"/>
          <a:stretch>
            <a:fillRect/>
          </a:stretch>
        </p:blipFill>
        <p:spPr>
          <a:xfrm>
            <a:off x="1115616" y="1447800"/>
            <a:ext cx="7498079" cy="529356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BB4C9-5CD8-ACB5-EBDF-6395E5669E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C70343-1C96-64AA-7F1E-9E8972AFD7CB}"/>
              </a:ext>
            </a:extLst>
          </p:cNvPr>
          <p:cNvSpPr>
            <a:spLocks noGrp="1"/>
          </p:cNvSpPr>
          <p:nvPr>
            <p:ph type="title"/>
          </p:nvPr>
        </p:nvSpPr>
        <p:spPr/>
        <p:txBody>
          <a:bodyPr/>
          <a:lstStyle/>
          <a:p>
            <a:r>
              <a:rPr lang="en-IN" dirty="0"/>
              <a:t>Use case diagram</a:t>
            </a:r>
          </a:p>
        </p:txBody>
      </p:sp>
      <p:pic>
        <p:nvPicPr>
          <p:cNvPr id="5" name="Content Placeholder 4">
            <a:extLst>
              <a:ext uri="{FF2B5EF4-FFF2-40B4-BE49-F238E27FC236}">
                <a16:creationId xmlns:a16="http://schemas.microsoft.com/office/drawing/2014/main" id="{1144AF81-DA6E-BECC-FA07-73944EC476AE}"/>
              </a:ext>
            </a:extLst>
          </p:cNvPr>
          <p:cNvPicPr>
            <a:picLocks noGrp="1" noChangeAspect="1"/>
          </p:cNvPicPr>
          <p:nvPr>
            <p:ph idx="1"/>
          </p:nvPr>
        </p:nvPicPr>
        <p:blipFill>
          <a:blip r:embed="rId2"/>
          <a:stretch>
            <a:fillRect/>
          </a:stretch>
        </p:blipFill>
        <p:spPr>
          <a:xfrm>
            <a:off x="1187624" y="1447800"/>
            <a:ext cx="7498080" cy="5135562"/>
          </a:xfrm>
          <a:prstGeom prst="rect">
            <a:avLst/>
          </a:prstGeom>
        </p:spPr>
      </p:pic>
    </p:spTree>
    <p:extLst>
      <p:ext uri="{BB962C8B-B14F-4D97-AF65-F5344CB8AC3E}">
        <p14:creationId xmlns:p14="http://schemas.microsoft.com/office/powerpoint/2010/main" val="40201930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Sequence diagram</a:t>
            </a:r>
          </a:p>
        </p:txBody>
      </p:sp>
      <p:pic>
        <p:nvPicPr>
          <p:cNvPr id="5" name="Content Placeholder 4">
            <a:extLst>
              <a:ext uri="{FF2B5EF4-FFF2-40B4-BE49-F238E27FC236}">
                <a16:creationId xmlns:a16="http://schemas.microsoft.com/office/drawing/2014/main" id="{E9DFBDFF-B9D7-1A03-BD62-F49051A2CB88}"/>
              </a:ext>
            </a:extLst>
          </p:cNvPr>
          <p:cNvPicPr>
            <a:picLocks noGrp="1" noChangeAspect="1"/>
          </p:cNvPicPr>
          <p:nvPr>
            <p:ph idx="1"/>
          </p:nvPr>
        </p:nvPicPr>
        <p:blipFill>
          <a:blip r:embed="rId2"/>
          <a:stretch>
            <a:fillRect/>
          </a:stretch>
        </p:blipFill>
        <p:spPr>
          <a:xfrm>
            <a:off x="1317920" y="1196752"/>
            <a:ext cx="7602048" cy="55816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B1DD7-2C31-9F52-0AFB-966F5AD6C5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66E227-190C-16C3-226A-1F092C76016B}"/>
              </a:ext>
            </a:extLst>
          </p:cNvPr>
          <p:cNvSpPr>
            <a:spLocks noGrp="1"/>
          </p:cNvSpPr>
          <p:nvPr>
            <p:ph type="title"/>
          </p:nvPr>
        </p:nvSpPr>
        <p:spPr/>
        <p:txBody>
          <a:bodyPr/>
          <a:lstStyle/>
          <a:p>
            <a:r>
              <a:rPr lang="en-IN" dirty="0"/>
              <a:t>Sequence diagram</a:t>
            </a:r>
          </a:p>
        </p:txBody>
      </p:sp>
      <p:pic>
        <p:nvPicPr>
          <p:cNvPr id="3" name="Content Placeholder 2">
            <a:extLst>
              <a:ext uri="{FF2B5EF4-FFF2-40B4-BE49-F238E27FC236}">
                <a16:creationId xmlns:a16="http://schemas.microsoft.com/office/drawing/2014/main" id="{85462564-0843-8000-CBAD-1CF68B010256}"/>
              </a:ext>
            </a:extLst>
          </p:cNvPr>
          <p:cNvPicPr>
            <a:picLocks noGrp="1" noChangeAspect="1"/>
          </p:cNvPicPr>
          <p:nvPr>
            <p:ph idx="1"/>
          </p:nvPr>
        </p:nvPicPr>
        <p:blipFill>
          <a:blip r:embed="rId2"/>
          <a:stretch>
            <a:fillRect/>
          </a:stretch>
        </p:blipFill>
        <p:spPr>
          <a:xfrm>
            <a:off x="1115616" y="1447800"/>
            <a:ext cx="7704855" cy="5410200"/>
          </a:xfrm>
          <a:prstGeom prst="rect">
            <a:avLst/>
          </a:prstGeom>
        </p:spPr>
      </p:pic>
    </p:spTree>
    <p:extLst>
      <p:ext uri="{BB962C8B-B14F-4D97-AF65-F5344CB8AC3E}">
        <p14:creationId xmlns:p14="http://schemas.microsoft.com/office/powerpoint/2010/main" val="26486634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Templates</a:t>
            </a:r>
            <a:br>
              <a:rPr lang="en-IN" dirty="0"/>
            </a:br>
            <a:r>
              <a:rPr lang="en-IN" dirty="0"/>
              <a:t>Main screen</a:t>
            </a:r>
          </a:p>
        </p:txBody>
      </p:sp>
      <p:pic>
        <p:nvPicPr>
          <p:cNvPr id="7" name="Content Placeholder 6">
            <a:extLst>
              <a:ext uri="{FF2B5EF4-FFF2-40B4-BE49-F238E27FC236}">
                <a16:creationId xmlns:a16="http://schemas.microsoft.com/office/drawing/2014/main" id="{55011132-65FE-75F0-F165-292E1D8C1B0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7624" y="1653939"/>
            <a:ext cx="7848872" cy="4929423"/>
          </a:xfr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Output screen for loading data</a:t>
            </a:r>
          </a:p>
        </p:txBody>
      </p:sp>
      <p:pic>
        <p:nvPicPr>
          <p:cNvPr id="7" name="Content Placeholder 6">
            <a:extLst>
              <a:ext uri="{FF2B5EF4-FFF2-40B4-BE49-F238E27FC236}">
                <a16:creationId xmlns:a16="http://schemas.microsoft.com/office/drawing/2014/main" id="{D26445D1-1E48-D40A-4DB9-D5E7049323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7497" y="1423366"/>
            <a:ext cx="4056472" cy="4741938"/>
          </a:xfrm>
        </p:spPr>
      </p:pic>
      <p:pic>
        <p:nvPicPr>
          <p:cNvPr id="9" name="Picture 8">
            <a:extLst>
              <a:ext uri="{FF2B5EF4-FFF2-40B4-BE49-F238E27FC236}">
                <a16:creationId xmlns:a16="http://schemas.microsoft.com/office/drawing/2014/main" id="{D58A8630-501C-3D71-F568-638C0B493B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9992" y="1417638"/>
            <a:ext cx="4433696" cy="474193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FD84D-5B8F-BCAA-17EC-8C1B4F8C1D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A4150E-6168-675B-A14B-2156781DF14C}"/>
              </a:ext>
            </a:extLst>
          </p:cNvPr>
          <p:cNvSpPr>
            <a:spLocks noGrp="1"/>
          </p:cNvSpPr>
          <p:nvPr>
            <p:ph type="title"/>
          </p:nvPr>
        </p:nvSpPr>
        <p:spPr/>
        <p:txBody>
          <a:bodyPr/>
          <a:lstStyle/>
          <a:p>
            <a:r>
              <a:rPr lang="en-IN" dirty="0"/>
              <a:t>Output screen for loading data</a:t>
            </a:r>
          </a:p>
        </p:txBody>
      </p:sp>
      <p:pic>
        <p:nvPicPr>
          <p:cNvPr id="4" name="Content Placeholder 3">
            <a:extLst>
              <a:ext uri="{FF2B5EF4-FFF2-40B4-BE49-F238E27FC236}">
                <a16:creationId xmlns:a16="http://schemas.microsoft.com/office/drawing/2014/main" id="{0D066871-7AB5-3065-D7DC-3F7060A6C4B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5536" y="1628800"/>
            <a:ext cx="3888432" cy="4608512"/>
          </a:xfrm>
        </p:spPr>
      </p:pic>
      <p:pic>
        <p:nvPicPr>
          <p:cNvPr id="7" name="Picture 6">
            <a:extLst>
              <a:ext uri="{FF2B5EF4-FFF2-40B4-BE49-F238E27FC236}">
                <a16:creationId xmlns:a16="http://schemas.microsoft.com/office/drawing/2014/main" id="{40EE7F83-5701-6B24-5C8F-A216C92BBE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1628799"/>
            <a:ext cx="4032448" cy="4608512"/>
          </a:xfrm>
          <a:prstGeom prst="rect">
            <a:avLst/>
          </a:prstGeom>
        </p:spPr>
      </p:pic>
    </p:spTree>
    <p:extLst>
      <p:ext uri="{BB962C8B-B14F-4D97-AF65-F5344CB8AC3E}">
        <p14:creationId xmlns:p14="http://schemas.microsoft.com/office/powerpoint/2010/main" val="5113853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Conclusion</a:t>
            </a:r>
          </a:p>
        </p:txBody>
      </p:sp>
      <p:sp>
        <p:nvSpPr>
          <p:cNvPr id="3" name="Content Placeholder 2"/>
          <p:cNvSpPr>
            <a:spLocks noGrp="1"/>
          </p:cNvSpPr>
          <p:nvPr>
            <p:ph idx="1"/>
          </p:nvPr>
        </p:nvSpPr>
        <p:spPr/>
        <p:txBody>
          <a:bodyPr>
            <a:normAutofit/>
          </a:bodyPr>
          <a:lstStyle/>
          <a:p>
            <a:pPr marL="82296" indent="0">
              <a:buNone/>
            </a:pPr>
            <a:r>
              <a:rPr lang="en-US" sz="2000" dirty="0">
                <a:latin typeface="Times New Roman" panose="02020603050405020304" pitchFamily="18" charset="0"/>
                <a:cs typeface="Times New Roman" panose="02020603050405020304" pitchFamily="18" charset="0"/>
              </a:rPr>
              <a:t>The integration of machine learning-based facial recognition with blockchain technology presents a transformative approach to modern criminal identification. By leveraging deep neural networks, the system can efficiently analyze surveillance footage and accurately identify individuals of interest. The incorporation of blockchain adds a critical layer of security, ensuring that all data and transactions are immutable, transparent, and resistant to tampering. This dual-technology framework not only streamlines the investigative process for law enforcement agencies but also upholds the integrity and accountability of sensitive data. Ultimately, this system represents a significant step forward in creating a smarter, more secure, and more effective public safety infrastructure.</a:t>
            </a:r>
            <a:endParaRPr lang="en-IN" sz="36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9EBD378-8D8D-EAD0-42E7-FCD5F5D0AD94}"/>
              </a:ext>
            </a:extLst>
          </p:cNvPr>
          <p:cNvPicPr>
            <a:picLocks noGrp="1" noChangeAspect="1"/>
          </p:cNvPicPr>
          <p:nvPr>
            <p:ph idx="1"/>
          </p:nvPr>
        </p:nvPicPr>
        <p:blipFill>
          <a:blip r:embed="rId2">
            <a:alphaModFix amt="35000"/>
            <a:extLst>
              <a:ext uri="{28A0092B-C50C-407E-A947-70E740481C1C}">
                <a14:useLocalDpi xmlns:a14="http://schemas.microsoft.com/office/drawing/2010/main" val="0"/>
              </a:ext>
            </a:extLst>
          </a:blip>
          <a:stretch>
            <a:fillRect/>
          </a:stretch>
        </p:blipFill>
        <p:spPr>
          <a:xfrm>
            <a:off x="35496" y="-17128"/>
            <a:ext cx="9108504" cy="6858000"/>
          </a:xfrm>
        </p:spPr>
      </p:pic>
      <p:sp>
        <p:nvSpPr>
          <p:cNvPr id="6" name="TextBox 5">
            <a:extLst>
              <a:ext uri="{FF2B5EF4-FFF2-40B4-BE49-F238E27FC236}">
                <a16:creationId xmlns:a16="http://schemas.microsoft.com/office/drawing/2014/main" id="{73600FE6-31EC-F3CE-72DF-E783F63BA267}"/>
              </a:ext>
            </a:extLst>
          </p:cNvPr>
          <p:cNvSpPr txBox="1"/>
          <p:nvPr/>
        </p:nvSpPr>
        <p:spPr>
          <a:xfrm>
            <a:off x="971600" y="2276872"/>
            <a:ext cx="6804248" cy="1692771"/>
          </a:xfrm>
          <a:prstGeom prst="rect">
            <a:avLst/>
          </a:prstGeom>
          <a:noFill/>
        </p:spPr>
        <p:txBody>
          <a:bodyPr wrap="square" rtlCol="0">
            <a:spAutoFit/>
          </a:bodyPr>
          <a:lstStyle/>
          <a:p>
            <a:r>
              <a:rPr lang="en-IN" sz="10400" dirty="0">
                <a:latin typeface="Impact" panose="020B0806030902050204" pitchFamily="34" charset="0"/>
              </a:rPr>
              <a:t>THANK YOU</a:t>
            </a:r>
          </a:p>
        </p:txBody>
      </p:sp>
    </p:spTree>
    <p:extLst>
      <p:ext uri="{BB962C8B-B14F-4D97-AF65-F5344CB8AC3E}">
        <p14:creationId xmlns:p14="http://schemas.microsoft.com/office/powerpoint/2010/main" val="209126657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TM02892315[[fn=Wisp]]</Template>
  <TotalTime>921</TotalTime>
  <Words>911</Words>
  <Application>Microsoft Office PowerPoint</Application>
  <PresentationFormat>On-screen Show (4:3)</PresentationFormat>
  <Paragraphs>150</Paragraphs>
  <Slides>23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Calibri</vt:lpstr>
      <vt:lpstr>Gill Sans MT</vt:lpstr>
      <vt:lpstr>Impact</vt:lpstr>
      <vt:lpstr>Times New Roman</vt:lpstr>
      <vt:lpstr>Verdana</vt:lpstr>
      <vt:lpstr>Wingdings</vt:lpstr>
      <vt:lpstr>Wingdings 2</vt:lpstr>
      <vt:lpstr>Solstice</vt:lpstr>
      <vt:lpstr>  FACE DETECTION AND RECOGNITION FOR CRIMINAL IDENTIFICATION SYSTEM </vt:lpstr>
      <vt:lpstr>Criminal Identification</vt:lpstr>
      <vt:lpstr>CONTENTS</vt:lpstr>
      <vt:lpstr>Abstract</vt:lpstr>
      <vt:lpstr>Existing System</vt:lpstr>
      <vt:lpstr>Proposed System</vt:lpstr>
      <vt:lpstr>System Configuration</vt:lpstr>
      <vt:lpstr>System Configuration</vt:lpstr>
      <vt:lpstr>System Architecture</vt:lpstr>
      <vt:lpstr>Modules</vt:lpstr>
      <vt:lpstr>Modules</vt:lpstr>
      <vt:lpstr>Advantages </vt:lpstr>
      <vt:lpstr>Disadvantages </vt:lpstr>
      <vt:lpstr>UML Diagrams     Class diagram</vt:lpstr>
      <vt:lpstr>Use case diagram</vt:lpstr>
      <vt:lpstr>Use case diagram</vt:lpstr>
      <vt:lpstr>Sequence diagram</vt:lpstr>
      <vt:lpstr>Sequence diagram</vt:lpstr>
      <vt:lpstr>Templates Main screen</vt:lpstr>
      <vt:lpstr>Output screen for loading data</vt:lpstr>
      <vt:lpstr>Output screen for loading data</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ANALYSIS AND ESTIMATION OF GREENHOUSE GASES USING IOT</dc:title>
  <dc:creator>dell</dc:creator>
  <cp:lastModifiedBy>Haleema Khatun</cp:lastModifiedBy>
  <cp:revision>21</cp:revision>
  <dcterms:created xsi:type="dcterms:W3CDTF">2019-04-12T07:53:41Z</dcterms:created>
  <dcterms:modified xsi:type="dcterms:W3CDTF">2025-05-29T13:44:06Z</dcterms:modified>
</cp:coreProperties>
</file>